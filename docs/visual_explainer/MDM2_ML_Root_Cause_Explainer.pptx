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separates the root cause from the code bugs. The root cause is distribution mismatch plus selection at the extreme. The code bugs make the bias worse, but fixing them alone will not create evidence outside the training chemistry.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line: one model, two different worlds. Training/validation chemistry is analog-rich; the library is mostly outside the training manifold. The model's top predictions are selected precisely from the extrapolation zone.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test set is not the library. Test mean similarity is 0.608 and 97.7% of test compounds pass 0.40. The library mean is 0.219, and only 886 of 154,587 pass 0.40. The top-100 predicted compounds are at 0.186 mean — even farther out than the library median.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practical consequence. Strict AD does not produce a 12-compound shortlist from 154k candidates; it produces a pool of 96. If that pool has no active-supported, model-agreeing compounds, the honest answer is 'no reliable hits in this library'.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Top-100 mean maxT is 0.186, median 0.186, max 0.239. Library median is 0.217. So the top predictions are not just outside the domain; they are slightly farther out than a random library compound. The model is not finding hidden analogs; it is selecting the extrapolation tail.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test set is genuinely scaffold-disjoint, so it is not cheating. But scaffold-disjoint does not mean out-of-domain: 97.7% of test compounds still have a training neighbor at Tanimoto &gt;= 0.40. The library does not. That is why test R² 0.65 does not transfer to a 0.22-similarity library.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root cause is the top chain, not the bottom row. The code bugs are real and should be fixed, but even a perfect NNLS label and perfect active evidence would not make a 0.186-similarity compound reliably predictable. The root is the mismatch between the validation/deployment chemistry and the selection rule.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change is not a new model. It is a new evaluation contract: split by scaffold, nest all selection, freeze the test, use train-only evidence, and report AD coverage. If the deployment domain is a diverse library, a pIC50 regressor is the wrong primary tool; a classifier plus AD plus assay is more honest.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 is about truth, not performance. If the scaffold-grouped validation drops R² to 0.3, that is the honest number for new chemotypes. If the strict shortlist is empty, that is a finding: the library does not contain reliable analogs. P1/P2 make the result reproducible and maintainable.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distinction between a ranking tool and a discovery engine. The current shortlist is a hypothesis generator, not evidence. The most valuable next step is an honest, scaffold-grouped evaluation and a prospective assay, not a more complex model.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ectangle 1"/>
          <p:cNvSpPr/>
          <p:nvPr/>
        </p:nvSpPr>
        <p:spPr>
          <a:xfrm>
            <a:off x="594360" y="1508760"/>
            <a:ext cx="27432" cy="4023360"/>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201400" y="1508760"/>
            <a:ext cx="27432" cy="4023360"/>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143000"/>
            <a:ext cx="10424160" cy="320040"/>
          </a:xfrm>
          <a:prstGeom prst="rect">
            <a:avLst/>
          </a:prstGeom>
          <a:noFill/>
          <a:effectLst/>
        </p:spPr>
        <p:txBody>
          <a:bodyPr wrap="square" anchor="t" lIns="0" rIns="0" tIns="0" bIns="0">
            <a:spAutoFit/>
          </a:bodyPr>
          <a:lstStyle/>
          <a:p>
            <a:pPr algn="l"/>
            <a:r>
              <a:rPr sz="1200" b="1" i="0">
                <a:solidFill>
                  <a:srgbClr val="F4A261"/>
                </a:solidFill>
                <a:latin typeface="Liberation Sans"/>
              </a:rPr>
              <a:t>MDM2 SCREENING PIPELINE  ·  ROOT-CAUSE REVIEW</a:t>
            </a:r>
          </a:p>
        </p:txBody>
      </p:sp>
      <p:sp>
        <p:nvSpPr>
          <p:cNvPr id="5" name="TextBox 4"/>
          <p:cNvSpPr txBox="1"/>
          <p:nvPr/>
        </p:nvSpPr>
        <p:spPr>
          <a:xfrm>
            <a:off x="868680" y="1691640"/>
            <a:ext cx="10424160" cy="1508760"/>
          </a:xfrm>
          <a:prstGeom prst="rect">
            <a:avLst/>
          </a:prstGeom>
          <a:noFill/>
          <a:effectLst/>
        </p:spPr>
        <p:txBody>
          <a:bodyPr wrap="square" anchor="t" lIns="0" rIns="0" tIns="0" bIns="0">
            <a:spAutoFit/>
          </a:bodyPr>
          <a:lstStyle/>
          <a:p>
            <a:pPr algn="l"/>
            <a:r>
              <a:rPr sz="3800" b="1" i="0">
                <a:solidFill>
                  <a:srgbClr val="FFFFFF"/>
                </a:solidFill>
                <a:latin typeface="Liberation Sans"/>
              </a:rPr>
              <a:t>Why the model looks confident —
but picks compounds outside its range</a:t>
            </a:r>
          </a:p>
        </p:txBody>
      </p:sp>
      <p:sp>
        <p:nvSpPr>
          <p:cNvPr id="6" name="TextBox 5"/>
          <p:cNvSpPr txBox="1"/>
          <p:nvPr/>
        </p:nvSpPr>
        <p:spPr>
          <a:xfrm>
            <a:off x="896112" y="3429000"/>
            <a:ext cx="9509760" cy="685800"/>
          </a:xfrm>
          <a:prstGeom prst="rect">
            <a:avLst/>
          </a:prstGeom>
          <a:noFill/>
          <a:effectLst/>
        </p:spPr>
        <p:txBody>
          <a:bodyPr wrap="square" anchor="t" lIns="0" rIns="0" tIns="0" bIns="0">
            <a:spAutoFit/>
          </a:bodyPr>
          <a:lstStyle/>
          <a:p>
            <a:pPr algn="l"/>
            <a:r>
              <a:rPr sz="1600" b="0" i="0">
                <a:solidFill>
                  <a:srgbClr val="C9D3E0"/>
                </a:solidFill>
                <a:latin typeface="Liberation Sans"/>
              </a:rPr>
              <a:t>A visual explanation for a non-specialist, built from the code, the saved metrics, and the cached 154,587-row screening table.</a:t>
            </a:r>
          </a:p>
        </p:txBody>
      </p:sp>
      <p:sp>
        <p:nvSpPr>
          <p:cNvPr id="7" name="TextBox 6"/>
          <p:cNvSpPr txBox="1"/>
          <p:nvPr/>
        </p:nvSpPr>
        <p:spPr>
          <a:xfrm>
            <a:off x="896112" y="4572000"/>
            <a:ext cx="9601200" cy="822960"/>
          </a:xfrm>
          <a:prstGeom prst="rect">
            <a:avLst/>
          </a:prstGeom>
          <a:noFill/>
          <a:effectLst/>
        </p:spPr>
        <p:txBody>
          <a:bodyPr wrap="square" anchor="t" lIns="0" rIns="0" tIns="0" bIns="0">
            <a:spAutoFit/>
          </a:bodyPr>
          <a:lstStyle/>
          <a:p>
            <a:pPr algn="l"/>
            <a:r>
              <a:rPr sz="1900" b="1" i="0">
                <a:solidFill>
                  <a:srgbClr val="F4A261"/>
                </a:solidFill>
                <a:latin typeface="Liberation Sans"/>
              </a:rPr>
              <a:t>645 training compounds  →  154,587 library compounds
0 of the top 100 are inside the applicability domain.</a:t>
            </a:r>
          </a:p>
        </p:txBody>
      </p:sp>
      <p:sp>
        <p:nvSpPr>
          <p:cNvPr id="8" name="TextBox 7"/>
          <p:cNvSpPr txBox="1"/>
          <p:nvPr/>
        </p:nvSpPr>
        <p:spPr>
          <a:xfrm>
            <a:off x="896112" y="5989320"/>
            <a:ext cx="9601200" cy="274320"/>
          </a:xfrm>
          <a:prstGeom prst="rect">
            <a:avLst/>
          </a:prstGeom>
          <a:noFill/>
          <a:effectLst/>
        </p:spPr>
        <p:txBody>
          <a:bodyPr wrap="square" anchor="t" lIns="0" rIns="0" tIns="0" bIns="0">
            <a:spAutoFit/>
          </a:bodyPr>
          <a:lstStyle/>
          <a:p>
            <a:pPr algn="l"/>
            <a:r>
              <a:rPr sz="900" b="0" i="0">
                <a:solidFill>
                  <a:srgbClr val="8FA3B8"/>
                </a:solidFill>
                <a:latin typeface="Liberation Sans"/>
              </a:rPr>
              <a:t>Prepared 2026-10-26  ·  local review  ·  cached run: 154,587 rows (canonical 154,647; 60-row difference)</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3" cy="0"/>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256032"/>
          </a:xfrm>
          <a:prstGeom prst="rect">
            <a:avLst/>
          </a:prstGeom>
          <a:noFill/>
          <a:effectLst/>
        </p:spPr>
        <p:txBody>
          <a:bodyPr wrap="square" anchor="t" lIns="0" rIns="0" tIns="0" bIns="0">
            <a:spAutoFit/>
          </a:bodyPr>
          <a:lstStyle/>
          <a:p>
            <a:pPr algn="l"/>
            <a:r>
              <a:rPr sz="1100" b="1" i="0">
                <a:solidFill>
                  <a:srgbClr val="D62828"/>
                </a:solidFill>
                <a:latin typeface="Liberation Sans"/>
              </a:rPr>
              <a:t>THE SINGLE POINT</a:t>
            </a:r>
          </a:p>
        </p:txBody>
      </p:sp>
      <p:sp>
        <p:nvSpPr>
          <p:cNvPr id="4" name="TextBox 3"/>
          <p:cNvSpPr txBox="1"/>
          <p:nvPr/>
        </p:nvSpPr>
        <p:spPr>
          <a:xfrm>
            <a:off x="594360" y="502920"/>
            <a:ext cx="10972800" cy="658368"/>
          </a:xfrm>
          <a:prstGeom prst="rect">
            <a:avLst/>
          </a:prstGeom>
          <a:noFill/>
          <a:effectLst/>
        </p:spPr>
        <p:txBody>
          <a:bodyPr wrap="square" anchor="t" lIns="0" rIns="0" tIns="0" bIns="0">
            <a:spAutoFit/>
          </a:bodyPr>
          <a:lstStyle/>
          <a:p>
            <a:pPr algn="l"/>
            <a:r>
              <a:rPr sz="2900" b="1" i="0">
                <a:solidFill>
                  <a:srgbClr val="0B1F3A"/>
                </a:solidFill>
                <a:latin typeface="Liberation Sans"/>
              </a:rPr>
              <a:t>The model is solving a different problem than the one you need</a:t>
            </a:r>
          </a:p>
        </p:txBody>
      </p:sp>
      <p:sp>
        <p:nvSpPr>
          <p:cNvPr id="5" name="TextBox 4"/>
          <p:cNvSpPr txBox="1"/>
          <p:nvPr/>
        </p:nvSpPr>
        <p:spPr>
          <a:xfrm>
            <a:off x="594360" y="1572768"/>
            <a:ext cx="10972800" cy="914400"/>
          </a:xfrm>
          <a:prstGeom prst="rect">
            <a:avLst/>
          </a:prstGeom>
          <a:noFill/>
          <a:effectLst/>
        </p:spPr>
        <p:txBody>
          <a:bodyPr wrap="square" anchor="t" lIns="0" rIns="0" tIns="0" bIns="0">
            <a:spAutoFit/>
          </a:bodyPr>
          <a:lstStyle/>
          <a:p>
            <a:pPr algn="l"/>
            <a:r>
              <a:rPr sz="2000" b="0" i="0">
                <a:solidFill>
                  <a:srgbClr val="16213E"/>
                </a:solidFill>
                <a:latin typeface="Liberation Sans"/>
              </a:rPr>
              <a:t>It is not mainly one wrong line of code. It is a mismatch between the chemistry it learned and the chemistry it is asked to rank — made worse by selecting the most extreme predictions.</a:t>
            </a:r>
          </a:p>
        </p:txBody>
      </p:sp>
      <p:sp>
        <p:nvSpPr>
          <p:cNvPr id="6" name="Rounded Rectangle 5"/>
          <p:cNvSpPr/>
          <p:nvPr/>
        </p:nvSpPr>
        <p:spPr>
          <a:xfrm>
            <a:off x="594360" y="2834640"/>
            <a:ext cx="3429000" cy="1874519"/>
          </a:xfrm>
          <a:prstGeom prst="roundRect">
            <a:avLst>
              <a:gd name="adj" fmla="val 8000"/>
            </a:avLst>
          </a:prstGeom>
          <a:solidFill>
            <a:srgbClr val="FFFFFF"/>
          </a:solidFill>
          <a:ln w="1524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962656"/>
            <a:ext cx="3099816" cy="320040"/>
          </a:xfrm>
          <a:prstGeom prst="rect">
            <a:avLst/>
          </a:prstGeom>
          <a:noFill/>
          <a:effectLst/>
        </p:spPr>
        <p:txBody>
          <a:bodyPr wrap="square" anchor="t" lIns="0" rIns="0" tIns="0" bIns="0">
            <a:spAutoFit/>
          </a:bodyPr>
          <a:lstStyle/>
          <a:p>
            <a:pPr algn="l"/>
            <a:r>
              <a:rPr sz="1800" b="1" i="0">
                <a:solidFill>
                  <a:srgbClr val="2A9D8F"/>
                </a:solidFill>
                <a:latin typeface="Liberation Sans"/>
              </a:rPr>
              <a:t>It learned</a:t>
            </a:r>
          </a:p>
        </p:txBody>
      </p:sp>
      <p:sp>
        <p:nvSpPr>
          <p:cNvPr id="8" name="TextBox 7"/>
          <p:cNvSpPr txBox="1"/>
          <p:nvPr/>
        </p:nvSpPr>
        <p:spPr>
          <a:xfrm>
            <a:off x="758952" y="3310128"/>
            <a:ext cx="3099816" cy="1307591"/>
          </a:xfrm>
          <a:prstGeom prst="rect">
            <a:avLst/>
          </a:prstGeom>
          <a:noFill/>
          <a:effectLst/>
        </p:spPr>
        <p:txBody>
          <a:bodyPr wrap="square" anchor="t" lIns="0" rIns="0" tIns="0" bIns="0">
            <a:spAutoFit/>
          </a:bodyPr>
          <a:lstStyle/>
          <a:p>
            <a:pPr algn="l"/>
            <a:r>
              <a:rPr sz="1250" b="0" i="0">
                <a:solidFill>
                  <a:srgbClr val="16213E"/>
                </a:solidFill>
                <a:latin typeface="Liberation Sans"/>
              </a:rPr>
              <a:t>645 MDM2 compounds from a limited chemical neighborhood. 204 Murcko scaffolds; top 10 cover 39%.</a:t>
            </a:r>
          </a:p>
        </p:txBody>
      </p:sp>
      <p:sp>
        <p:nvSpPr>
          <p:cNvPr id="9" name="Rounded Rectangle 8"/>
          <p:cNvSpPr/>
          <p:nvPr/>
        </p:nvSpPr>
        <p:spPr>
          <a:xfrm>
            <a:off x="4389120" y="2834640"/>
            <a:ext cx="3429000" cy="1874519"/>
          </a:xfrm>
          <a:prstGeom prst="roundRect">
            <a:avLst>
              <a:gd name="adj" fmla="val 8000"/>
            </a:avLst>
          </a:prstGeom>
          <a:solidFill>
            <a:srgbClr val="FFFFFF"/>
          </a:solidFill>
          <a:ln w="15240">
            <a:solidFill>
              <a:srgbClr val="E76F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962656"/>
            <a:ext cx="3099816" cy="320040"/>
          </a:xfrm>
          <a:prstGeom prst="rect">
            <a:avLst/>
          </a:prstGeom>
          <a:noFill/>
          <a:effectLst/>
        </p:spPr>
        <p:txBody>
          <a:bodyPr wrap="square" anchor="t" lIns="0" rIns="0" tIns="0" bIns="0">
            <a:spAutoFit/>
          </a:bodyPr>
          <a:lstStyle/>
          <a:p>
            <a:pPr algn="l"/>
            <a:r>
              <a:rPr sz="1800" b="1" i="0">
                <a:solidFill>
                  <a:srgbClr val="E76F51"/>
                </a:solidFill>
                <a:latin typeface="Liberation Sans"/>
              </a:rPr>
              <a:t>It is asked</a:t>
            </a:r>
          </a:p>
        </p:txBody>
      </p:sp>
      <p:sp>
        <p:nvSpPr>
          <p:cNvPr id="11" name="TextBox 10"/>
          <p:cNvSpPr txBox="1"/>
          <p:nvPr/>
        </p:nvSpPr>
        <p:spPr>
          <a:xfrm>
            <a:off x="4553712" y="3310128"/>
            <a:ext cx="3099816" cy="1307591"/>
          </a:xfrm>
          <a:prstGeom prst="rect">
            <a:avLst/>
          </a:prstGeom>
          <a:noFill/>
          <a:effectLst/>
        </p:spPr>
        <p:txBody>
          <a:bodyPr wrap="square" anchor="t" lIns="0" rIns="0" tIns="0" bIns="0">
            <a:spAutoFit/>
          </a:bodyPr>
          <a:lstStyle/>
          <a:p>
            <a:pPr algn="l"/>
            <a:r>
              <a:rPr sz="1250" b="0" i="0">
                <a:solidFill>
                  <a:srgbClr val="16213E"/>
                </a:solidFill>
                <a:latin typeface="Liberation Sans"/>
              </a:rPr>
              <a:t>Rank 154,587 diverse library compounds. 99.4% are below the 0.40 similarity cut; 99.94% are below the strict 0.52 cut.</a:t>
            </a:r>
          </a:p>
        </p:txBody>
      </p:sp>
      <p:sp>
        <p:nvSpPr>
          <p:cNvPr id="12" name="Rounded Rectangle 11"/>
          <p:cNvSpPr/>
          <p:nvPr/>
        </p:nvSpPr>
        <p:spPr>
          <a:xfrm>
            <a:off x="8183879" y="2834640"/>
            <a:ext cx="3429000" cy="1874519"/>
          </a:xfrm>
          <a:prstGeom prst="roundRect">
            <a:avLst>
              <a:gd name="adj" fmla="val 8000"/>
            </a:avLst>
          </a:prstGeom>
          <a:solidFill>
            <a:srgbClr val="FFFFFF"/>
          </a:solidFill>
          <a:ln w="15240">
            <a:solidFill>
              <a:srgbClr val="D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1" y="2962656"/>
            <a:ext cx="3099816" cy="320040"/>
          </a:xfrm>
          <a:prstGeom prst="rect">
            <a:avLst/>
          </a:prstGeom>
          <a:noFill/>
          <a:effectLst/>
        </p:spPr>
        <p:txBody>
          <a:bodyPr wrap="square" anchor="t" lIns="0" rIns="0" tIns="0" bIns="0">
            <a:spAutoFit/>
          </a:bodyPr>
          <a:lstStyle/>
          <a:p>
            <a:pPr algn="l"/>
            <a:r>
              <a:rPr sz="1800" b="1" i="0">
                <a:solidFill>
                  <a:srgbClr val="D62828"/>
                </a:solidFill>
                <a:latin typeface="Liberation Sans"/>
              </a:rPr>
              <a:t>It does</a:t>
            </a:r>
          </a:p>
        </p:txBody>
      </p:sp>
      <p:sp>
        <p:nvSpPr>
          <p:cNvPr id="14" name="TextBox 13"/>
          <p:cNvSpPr txBox="1"/>
          <p:nvPr/>
        </p:nvSpPr>
        <p:spPr>
          <a:xfrm>
            <a:off x="8348471" y="3310128"/>
            <a:ext cx="3099816" cy="1307591"/>
          </a:xfrm>
          <a:prstGeom prst="rect">
            <a:avLst/>
          </a:prstGeom>
          <a:noFill/>
          <a:effectLst/>
        </p:spPr>
        <p:txBody>
          <a:bodyPr wrap="square" anchor="t" lIns="0" rIns="0" tIns="0" bIns="0">
            <a:spAutoFit/>
          </a:bodyPr>
          <a:lstStyle/>
          <a:p>
            <a:pPr algn="l"/>
            <a:r>
              <a:rPr sz="1250" b="0" i="0">
                <a:solidFill>
                  <a:srgbClr val="16213E"/>
                </a:solidFill>
                <a:latin typeface="Liberation Sans"/>
              </a:rPr>
              <a:t>Takes the top predicted pIC50 values. Those values are highest where the model has the least evidence.</a:t>
            </a:r>
          </a:p>
        </p:txBody>
      </p:sp>
      <p:sp>
        <p:nvSpPr>
          <p:cNvPr id="15" name="TextBox 14"/>
          <p:cNvSpPr txBox="1"/>
          <p:nvPr/>
        </p:nvSpPr>
        <p:spPr>
          <a:xfrm>
            <a:off x="594360" y="5074920"/>
            <a:ext cx="10972800" cy="822960"/>
          </a:xfrm>
          <a:prstGeom prst="rect">
            <a:avLst/>
          </a:prstGeom>
          <a:noFill/>
          <a:effectLst/>
        </p:spPr>
        <p:txBody>
          <a:bodyPr wrap="square" anchor="t" lIns="0" rIns="0" tIns="0" bIns="0">
            <a:spAutoFit/>
          </a:bodyPr>
          <a:lstStyle/>
          <a:p>
            <a:pPr algn="ctr"/>
            <a:r>
              <a:rPr sz="2500" b="1" i="0">
                <a:solidFill>
                  <a:srgbClr val="D62828"/>
                </a:solidFill>
                <a:latin typeface="Liberation Sans"/>
              </a:rPr>
              <a:t>A model can output a number everywhere. That does not mean it has evidence everywhere.</a:t>
            </a:r>
          </a:p>
        </p:txBody>
      </p:sp>
      <p:sp>
        <p:nvSpPr>
          <p:cNvPr id="16" name="TextBox 15"/>
          <p:cNvSpPr txBox="1"/>
          <p:nvPr/>
        </p:nvSpPr>
        <p:spPr>
          <a:xfrm>
            <a:off x="594360" y="5806440"/>
            <a:ext cx="10972800" cy="320040"/>
          </a:xfrm>
          <a:prstGeom prst="rect">
            <a:avLst/>
          </a:prstGeom>
          <a:noFill/>
          <a:effectLst/>
        </p:spPr>
        <p:txBody>
          <a:bodyPr wrap="square" anchor="t" lIns="0" rIns="0" tIns="0" bIns="0">
            <a:spAutoFit/>
          </a:bodyPr>
          <a:lstStyle/>
          <a:p>
            <a:pPr algn="ctr"/>
            <a:r>
              <a:rPr sz="1300" b="0" i="0">
                <a:solidFill>
                  <a:srgbClr val="8D99AE"/>
                </a:solidFill>
                <a:latin typeface="Liberation Sans"/>
              </a:rPr>
              <a:t>The algorithm is secondary. The data coverage and the selection rule are primary.</a:t>
            </a:r>
          </a:p>
        </p:txBody>
      </p:sp>
      <p:sp>
        <p:nvSpPr>
          <p:cNvPr id="17" name="TextBox 16"/>
          <p:cNvSpPr txBox="1"/>
          <p:nvPr/>
        </p:nvSpPr>
        <p:spPr>
          <a:xfrm>
            <a:off x="594360" y="6519672"/>
            <a:ext cx="10058400" cy="201168"/>
          </a:xfrm>
          <a:prstGeom prst="rect">
            <a:avLst/>
          </a:prstGeom>
          <a:noFill/>
          <a:effectLst/>
        </p:spPr>
        <p:txBody>
          <a:bodyPr wrap="square" anchor="t" lIns="0" rIns="0" tIns="0" bIns="0">
            <a:spAutoFit/>
          </a:bodyPr>
          <a:lstStyle/>
          <a:p>
            <a:pPr algn="l"/>
            <a:r>
              <a:rPr sz="850" b="0" i="0">
                <a:solidFill>
                  <a:srgbClr val="8D99AE"/>
                </a:solidFill>
                <a:latin typeface="Liberation Sans"/>
              </a:rPr>
              <a:t>MDM2 pipeline review  ·  645 training compounds / 154,587 screening compounds  ·  data: 2026-10-26</a:t>
            </a:r>
          </a:p>
        </p:txBody>
      </p:sp>
      <p:sp>
        <p:nvSpPr>
          <p:cNvPr id="18" name="TextBox 17"/>
          <p:cNvSpPr txBox="1"/>
          <p:nvPr/>
        </p:nvSpPr>
        <p:spPr>
          <a:xfrm>
            <a:off x="11155680" y="6519672"/>
            <a:ext cx="457200" cy="201168"/>
          </a:xfrm>
          <a:prstGeom prst="rect">
            <a:avLst/>
          </a:prstGeom>
          <a:noFill/>
          <a:effectLst/>
        </p:spPr>
        <p:txBody>
          <a:bodyPr wrap="square" anchor="t" lIns="0" rIns="0" tIns="0" bIns="0">
            <a:spAutoFit/>
          </a:bodyPr>
          <a:lstStyle/>
          <a:p>
            <a:pPr algn="r"/>
            <a:r>
              <a:rPr sz="850" b="0" i="0">
                <a:solidFill>
                  <a:srgbClr val="8D99AE"/>
                </a:solidFill>
                <a:latin typeface="Liberation Sans"/>
              </a:rPr>
              <a:t>2/10</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3" cy="0"/>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256032"/>
          </a:xfrm>
          <a:prstGeom prst="rect">
            <a:avLst/>
          </a:prstGeom>
          <a:noFill/>
          <a:effectLst/>
        </p:spPr>
        <p:txBody>
          <a:bodyPr wrap="square" anchor="t" lIns="0" rIns="0" tIns="0" bIns="0">
            <a:spAutoFit/>
          </a:bodyPr>
          <a:lstStyle/>
          <a:p>
            <a:pPr algn="l"/>
            <a:r>
              <a:rPr sz="1100" b="1" i="0">
                <a:solidFill>
                  <a:srgbClr val="D62828"/>
                </a:solidFill>
                <a:latin typeface="Liberation Sans"/>
              </a:rPr>
              <a:t>WHAT 'OUT OF RANGE' MEANS</a:t>
            </a:r>
          </a:p>
        </p:txBody>
      </p:sp>
      <p:sp>
        <p:nvSpPr>
          <p:cNvPr id="4" name="TextBox 3"/>
          <p:cNvSpPr txBox="1"/>
          <p:nvPr/>
        </p:nvSpPr>
        <p:spPr>
          <a:xfrm>
            <a:off x="594360" y="502920"/>
            <a:ext cx="10972800" cy="658368"/>
          </a:xfrm>
          <a:prstGeom prst="rect">
            <a:avLst/>
          </a:prstGeom>
          <a:noFill/>
          <a:effectLst/>
        </p:spPr>
        <p:txBody>
          <a:bodyPr wrap="square" anchor="t" lIns="0" rIns="0" tIns="0" bIns="0">
            <a:spAutoFit/>
          </a:bodyPr>
          <a:lstStyle/>
          <a:p>
            <a:pPr algn="l"/>
            <a:r>
              <a:rPr sz="2900" b="1" i="0">
                <a:solidFill>
                  <a:srgbClr val="0B1F3A"/>
                </a:solidFill>
                <a:latin typeface="Liberation Sans"/>
              </a:rPr>
              <a:t>Similarity collapses outside the training set</a:t>
            </a:r>
          </a:p>
        </p:txBody>
      </p:sp>
      <p:sp>
        <p:nvSpPr>
          <p:cNvPr id="5" name="TextBox 4"/>
          <p:cNvSpPr txBox="1"/>
          <p:nvPr/>
        </p:nvSpPr>
        <p:spPr>
          <a:xfrm>
            <a:off x="612648" y="1170432"/>
            <a:ext cx="10789920" cy="384048"/>
          </a:xfrm>
          <a:prstGeom prst="rect">
            <a:avLst/>
          </a:prstGeom>
          <a:noFill/>
          <a:effectLst/>
        </p:spPr>
        <p:txBody>
          <a:bodyPr wrap="square" anchor="t" lIns="0" rIns="0" tIns="0" bIns="0">
            <a:spAutoFit/>
          </a:bodyPr>
          <a:lstStyle/>
          <a:p>
            <a:pPr algn="l"/>
            <a:r>
              <a:rPr sz="1450" b="0" i="0">
                <a:solidFill>
                  <a:srgbClr val="8D99AE"/>
                </a:solidFill>
                <a:latin typeface="Liberation Sans"/>
              </a:rPr>
              <a:t>Max Tanimoto similarity to the 464 training compounds. Higher = more evidence; lower = more extrapolation.</a:t>
            </a:r>
          </a:p>
        </p:txBody>
      </p:sp>
      <p:pic>
        <p:nvPicPr>
          <p:cNvPr id="6" name="Picture 5" descr="domain_gap.png"/>
          <p:cNvPicPr>
            <a:picLocks noChangeAspect="1"/>
          </p:cNvPicPr>
          <p:nvPr/>
        </p:nvPicPr>
        <p:blipFill>
          <a:blip r:embed="rId2"/>
          <a:stretch>
            <a:fillRect/>
          </a:stretch>
        </p:blipFill>
        <p:spPr>
          <a:xfrm>
            <a:off x="411480" y="1842794"/>
            <a:ext cx="7406640" cy="4050235"/>
          </a:xfrm>
          <a:prstGeom prst="rect">
            <a:avLst/>
          </a:prstGeom>
        </p:spPr>
      </p:pic>
      <p:sp>
        <p:nvSpPr>
          <p:cNvPr id="7" name="TextBox 6"/>
          <p:cNvSpPr txBox="1"/>
          <p:nvPr/>
        </p:nvSpPr>
        <p:spPr>
          <a:xfrm>
            <a:off x="8001000" y="1783080"/>
            <a:ext cx="3657600" cy="3840480"/>
          </a:xfrm>
          <a:prstGeom prst="rect">
            <a:avLst/>
          </a:prstGeom>
          <a:noFill/>
          <a:effectLst/>
        </p:spPr>
        <p:txBody>
          <a:bodyPr wrap="square" lIns="0" rIns="0" tIns="0" bIns="0">
            <a:spAutoFit/>
          </a:bodyPr>
          <a:lstStyle/>
          <a:p>
            <a:pPr>
              <a:spcAft>
                <a:spcPts val="900"/>
              </a:spcAft>
            </a:pPr>
            <a:r>
              <a:rPr sz="1500" b="1">
                <a:solidFill>
                  <a:srgbClr val="D62828"/>
                </a:solidFill>
                <a:latin typeface="Liberation Sans"/>
              </a:rPr>
              <a:t>•  </a:t>
            </a:r>
            <a:r>
              <a:rPr sz="1500">
                <a:solidFill>
                  <a:srgbClr val="16213E"/>
                </a:solidFill>
                <a:latin typeface="Liberation Sans"/>
              </a:rPr>
              <a:t>Train LOO mean: 0.793</a:t>
            </a:r>
          </a:p>
          <a:p>
            <a:pPr>
              <a:spcAft>
                <a:spcPts val="900"/>
              </a:spcAft>
            </a:pPr>
            <a:r>
              <a:rPr sz="1500" b="1">
                <a:solidFill>
                  <a:srgbClr val="D62828"/>
                </a:solidFill>
                <a:latin typeface="Liberation Sans"/>
              </a:rPr>
              <a:t>•  </a:t>
            </a:r>
            <a:r>
              <a:rPr sz="1500">
                <a:solidFill>
                  <a:srgbClr val="16213E"/>
                </a:solidFill>
                <a:latin typeface="Liberation Sans"/>
              </a:rPr>
              <a:t>Test mean: 0.608</a:t>
            </a:r>
          </a:p>
          <a:p>
            <a:pPr>
              <a:spcAft>
                <a:spcPts val="900"/>
              </a:spcAft>
            </a:pPr>
            <a:r>
              <a:rPr sz="1500" b="1">
                <a:solidFill>
                  <a:srgbClr val="D62828"/>
                </a:solidFill>
                <a:latin typeface="Liberation Sans"/>
              </a:rPr>
              <a:t>•  </a:t>
            </a:r>
            <a:r>
              <a:rPr sz="1500">
                <a:solidFill>
                  <a:srgbClr val="16213E"/>
                </a:solidFill>
                <a:latin typeface="Liberation Sans"/>
              </a:rPr>
              <a:t>Library mean: 0.220</a:t>
            </a:r>
          </a:p>
          <a:p>
            <a:pPr>
              <a:spcAft>
                <a:spcPts val="900"/>
              </a:spcAft>
            </a:pPr>
            <a:r>
              <a:rPr sz="1500" b="1">
                <a:solidFill>
                  <a:srgbClr val="D62828"/>
                </a:solidFill>
                <a:latin typeface="Liberation Sans"/>
              </a:rPr>
              <a:t>•  </a:t>
            </a:r>
            <a:r>
              <a:rPr sz="1500">
                <a:solidFill>
                  <a:srgbClr val="16213E"/>
                </a:solidFill>
                <a:latin typeface="Liberation Sans"/>
              </a:rPr>
              <a:t>Top-100 mean: 0.186</a:t>
            </a:r>
          </a:p>
          <a:p>
            <a:pPr>
              <a:spcAft>
                <a:spcPts val="900"/>
              </a:spcAft>
            </a:pPr>
            <a:r>
              <a:rPr sz="1500" b="1">
                <a:solidFill>
                  <a:srgbClr val="D62828"/>
                </a:solidFill>
                <a:latin typeface="Liberation Sans"/>
              </a:rPr>
              <a:t>•  </a:t>
            </a:r>
            <a:r>
              <a:rPr sz="1500">
                <a:solidFill>
                  <a:srgbClr val="16213E"/>
                </a:solidFill>
                <a:latin typeface="Liberation Sans"/>
              </a:rPr>
              <a:t>Library median: 0.217</a:t>
            </a:r>
          </a:p>
          <a:p>
            <a:pPr>
              <a:spcAft>
                <a:spcPts val="900"/>
              </a:spcAft>
            </a:pPr>
            <a:r>
              <a:rPr sz="1500" b="1">
                <a:solidFill>
                  <a:srgbClr val="D62828"/>
                </a:solidFill>
                <a:latin typeface="Liberation Sans"/>
              </a:rPr>
              <a:t>•  </a:t>
            </a:r>
            <a:r>
              <a:rPr sz="1500">
                <a:solidFill>
                  <a:srgbClr val="16213E"/>
                </a:solidFill>
                <a:latin typeface="Liberation Sans"/>
              </a:rPr>
              <a:t>Top-100 max: 0.239</a:t>
            </a:r>
          </a:p>
          <a:p>
            <a:pPr>
              <a:spcAft>
                <a:spcPts val="900"/>
              </a:spcAft>
            </a:pPr>
            <a:r>
              <a:rPr sz="1500" b="1">
                <a:solidFill>
                  <a:srgbClr val="D62828"/>
                </a:solidFill>
                <a:latin typeface="Liberation Sans"/>
              </a:rPr>
              <a:t>•  </a:t>
            </a:r>
            <a:r>
              <a:rPr sz="1500">
                <a:solidFill>
                  <a:srgbClr val="16213E"/>
                </a:solidFill>
                <a:latin typeface="Liberation Sans"/>
              </a:rPr>
              <a:t>Dashed lines: 0.40 AD / 0.52 strict</a:t>
            </a:r>
          </a:p>
        </p:txBody>
      </p:sp>
      <p:sp>
        <p:nvSpPr>
          <p:cNvPr id="8" name="TextBox 7"/>
          <p:cNvSpPr txBox="1"/>
          <p:nvPr/>
        </p:nvSpPr>
        <p:spPr>
          <a:xfrm>
            <a:off x="8001000" y="5074920"/>
            <a:ext cx="3657600" cy="1051560"/>
          </a:xfrm>
          <a:prstGeom prst="rect">
            <a:avLst/>
          </a:prstGeom>
          <a:noFill/>
          <a:effectLst/>
        </p:spPr>
        <p:txBody>
          <a:bodyPr wrap="square" anchor="t" lIns="0" rIns="0" tIns="0" bIns="0">
            <a:spAutoFit/>
          </a:bodyPr>
          <a:lstStyle/>
          <a:p>
            <a:pPr algn="l"/>
            <a:r>
              <a:rPr sz="1500" b="1" i="0">
                <a:solidFill>
                  <a:srgbClr val="D62828"/>
                </a:solidFill>
                <a:latin typeface="Liberation Sans"/>
              </a:rPr>
              <a:t>Only 0.57% of the library is inside the 0.40 cut.
Only 0.062% is inside the strict 0.52 cut.</a:t>
            </a:r>
          </a:p>
        </p:txBody>
      </p:sp>
      <p:sp>
        <p:nvSpPr>
          <p:cNvPr id="9" name="TextBox 8"/>
          <p:cNvSpPr txBox="1"/>
          <p:nvPr/>
        </p:nvSpPr>
        <p:spPr>
          <a:xfrm>
            <a:off x="594360" y="6144768"/>
            <a:ext cx="7132320" cy="201168"/>
          </a:xfrm>
          <a:prstGeom prst="rect">
            <a:avLst/>
          </a:prstGeom>
          <a:noFill/>
          <a:effectLst/>
        </p:spPr>
        <p:txBody>
          <a:bodyPr wrap="square" anchor="t" lIns="0" rIns="0" tIns="0" bIns="0">
            <a:spAutoFit/>
          </a:bodyPr>
          <a:lstStyle/>
          <a:p>
            <a:pPr algn="l"/>
            <a:r>
              <a:rPr sz="919" b="0" i="0">
                <a:solidFill>
                  <a:srgbClr val="8D99AE"/>
                </a:solidFill>
                <a:latin typeface="Liberation Sans"/>
              </a:rPr>
              <a:t>Red zone = extrapolation (&lt;0.40)  ·  amber = caution (0.40–0.52)  ·  green = in domain (≥0.52).</a:t>
            </a:r>
          </a:p>
        </p:txBody>
      </p:sp>
      <p:sp>
        <p:nvSpPr>
          <p:cNvPr id="10" name="TextBox 9"/>
          <p:cNvSpPr txBox="1"/>
          <p:nvPr/>
        </p:nvSpPr>
        <p:spPr>
          <a:xfrm>
            <a:off x="594360" y="6519672"/>
            <a:ext cx="10058400" cy="201168"/>
          </a:xfrm>
          <a:prstGeom prst="rect">
            <a:avLst/>
          </a:prstGeom>
          <a:noFill/>
          <a:effectLst/>
        </p:spPr>
        <p:txBody>
          <a:bodyPr wrap="square" anchor="t" lIns="0" rIns="0" tIns="0" bIns="0">
            <a:spAutoFit/>
          </a:bodyPr>
          <a:lstStyle/>
          <a:p>
            <a:pPr algn="l"/>
            <a:r>
              <a:rPr sz="850" b="0" i="0">
                <a:solidFill>
                  <a:srgbClr val="8D99AE"/>
                </a:solidFill>
                <a:latin typeface="Liberation Sans"/>
              </a:rPr>
              <a:t>MDM2 pipeline review  ·  645 training compounds / 154,587 screening compounds  ·  data: 2026-10-26</a:t>
            </a:r>
          </a:p>
        </p:txBody>
      </p:sp>
      <p:sp>
        <p:nvSpPr>
          <p:cNvPr id="11" name="TextBox 10"/>
          <p:cNvSpPr txBox="1"/>
          <p:nvPr/>
        </p:nvSpPr>
        <p:spPr>
          <a:xfrm>
            <a:off x="11155680" y="6519672"/>
            <a:ext cx="457200" cy="201168"/>
          </a:xfrm>
          <a:prstGeom prst="rect">
            <a:avLst/>
          </a:prstGeom>
          <a:noFill/>
          <a:effectLst/>
        </p:spPr>
        <p:txBody>
          <a:bodyPr wrap="square" anchor="t" lIns="0" rIns="0" tIns="0" bIns="0">
            <a:spAutoFit/>
          </a:bodyPr>
          <a:lstStyle/>
          <a:p>
            <a:pPr algn="r"/>
            <a:r>
              <a:rPr sz="850" b="0" i="0">
                <a:solidFill>
                  <a:srgbClr val="8D99AE"/>
                </a:solidFill>
                <a:latin typeface="Liberation Sans"/>
              </a:rPr>
              <a:t>3/10</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3" cy="0"/>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256032"/>
          </a:xfrm>
          <a:prstGeom prst="rect">
            <a:avLst/>
          </a:prstGeom>
          <a:noFill/>
          <a:effectLst/>
        </p:spPr>
        <p:txBody>
          <a:bodyPr wrap="square" anchor="t" lIns="0" rIns="0" tIns="0" bIns="0">
            <a:spAutoFit/>
          </a:bodyPr>
          <a:lstStyle/>
          <a:p>
            <a:pPr algn="l"/>
            <a:r>
              <a:rPr sz="1100" b="1" i="0">
                <a:solidFill>
                  <a:srgbClr val="D62828"/>
                </a:solidFill>
                <a:latin typeface="Liberation Sans"/>
              </a:rPr>
              <a:t>THE REAL SEARCH SPACE</a:t>
            </a:r>
          </a:p>
        </p:txBody>
      </p:sp>
      <p:sp>
        <p:nvSpPr>
          <p:cNvPr id="4" name="TextBox 3"/>
          <p:cNvSpPr txBox="1"/>
          <p:nvPr/>
        </p:nvSpPr>
        <p:spPr>
          <a:xfrm>
            <a:off x="594360" y="502920"/>
            <a:ext cx="10972800" cy="658368"/>
          </a:xfrm>
          <a:prstGeom prst="rect">
            <a:avLst/>
          </a:prstGeom>
          <a:noFill/>
          <a:effectLst/>
        </p:spPr>
        <p:txBody>
          <a:bodyPr wrap="square" anchor="t" lIns="0" rIns="0" tIns="0" bIns="0">
            <a:spAutoFit/>
          </a:bodyPr>
          <a:lstStyle/>
          <a:p>
            <a:pPr algn="l"/>
            <a:r>
              <a:rPr sz="2900" b="1" i="0">
                <a:solidFill>
                  <a:srgbClr val="0B1F3A"/>
                </a:solidFill>
                <a:latin typeface="Liberation Sans"/>
              </a:rPr>
              <a:t>The strict-domain pool is only 96 compounds</a:t>
            </a:r>
          </a:p>
        </p:txBody>
      </p:sp>
      <p:sp>
        <p:nvSpPr>
          <p:cNvPr id="5" name="TextBox 4"/>
          <p:cNvSpPr txBox="1"/>
          <p:nvPr/>
        </p:nvSpPr>
        <p:spPr>
          <a:xfrm>
            <a:off x="612648" y="1170432"/>
            <a:ext cx="10789920" cy="384048"/>
          </a:xfrm>
          <a:prstGeom prst="rect">
            <a:avLst/>
          </a:prstGeom>
          <a:noFill/>
          <a:effectLst/>
        </p:spPr>
        <p:txBody>
          <a:bodyPr wrap="square" anchor="t" lIns="0" rIns="0" tIns="0" bIns="0">
            <a:spAutoFit/>
          </a:bodyPr>
          <a:lstStyle/>
          <a:p>
            <a:pPr algn="l"/>
            <a:r>
              <a:rPr sz="1450" b="0" i="0">
                <a:solidFill>
                  <a:srgbClr val="8D99AE"/>
                </a:solidFill>
                <a:latin typeface="Liberation Sans"/>
              </a:rPr>
              <a:t>The library is not a 154k-choice buffet. Strict applicability-domain filtering leaves almost nothing to rank.</a:t>
            </a:r>
          </a:p>
        </p:txBody>
      </p:sp>
      <p:pic>
        <p:nvPicPr>
          <p:cNvPr id="6" name="Picture 5" descr="screening_funnel.png"/>
          <p:cNvPicPr>
            <a:picLocks noChangeAspect="1"/>
          </p:cNvPicPr>
          <p:nvPr/>
        </p:nvPicPr>
        <p:blipFill>
          <a:blip r:embed="rId2"/>
          <a:stretch>
            <a:fillRect/>
          </a:stretch>
        </p:blipFill>
        <p:spPr>
          <a:xfrm>
            <a:off x="411480" y="2023631"/>
            <a:ext cx="7406640" cy="3816577"/>
          </a:xfrm>
          <a:prstGeom prst="rect">
            <a:avLst/>
          </a:prstGeom>
        </p:spPr>
      </p:pic>
      <p:sp>
        <p:nvSpPr>
          <p:cNvPr id="7" name="TextBox 6"/>
          <p:cNvSpPr txBox="1"/>
          <p:nvPr/>
        </p:nvSpPr>
        <p:spPr>
          <a:xfrm>
            <a:off x="8001000" y="1828800"/>
            <a:ext cx="3657600" cy="4114800"/>
          </a:xfrm>
          <a:prstGeom prst="rect">
            <a:avLst/>
          </a:prstGeom>
          <a:noFill/>
          <a:effectLst/>
        </p:spPr>
        <p:txBody>
          <a:bodyPr wrap="square" lIns="0" rIns="0" tIns="0" bIns="0">
            <a:spAutoFit/>
          </a:bodyPr>
          <a:lstStyle/>
          <a:p>
            <a:pPr>
              <a:spcAft>
                <a:spcPts val="1000"/>
              </a:spcAft>
            </a:pPr>
            <a:r>
              <a:rPr sz="1450" b="1">
                <a:solidFill>
                  <a:srgbClr val="D62828"/>
                </a:solidFill>
                <a:latin typeface="Liberation Sans"/>
              </a:rPr>
              <a:t>•  </a:t>
            </a:r>
            <a:r>
              <a:rPr sz="1450">
                <a:solidFill>
                  <a:srgbClr val="16213E"/>
                </a:solidFill>
                <a:latin typeface="Liberation Sans"/>
              </a:rPr>
              <a:t>154,587 total library compounds</a:t>
            </a:r>
          </a:p>
          <a:p>
            <a:pPr>
              <a:spcAft>
                <a:spcPts val="1000"/>
              </a:spcAft>
            </a:pPr>
            <a:r>
              <a:rPr sz="1450" b="1">
                <a:solidFill>
                  <a:srgbClr val="D62828"/>
                </a:solidFill>
                <a:latin typeface="Liberation Sans"/>
              </a:rPr>
              <a:t>•  </a:t>
            </a:r>
            <a:r>
              <a:rPr sz="1450">
                <a:solidFill>
                  <a:srgbClr val="16213E"/>
                </a:solidFill>
                <a:latin typeface="Liberation Sans"/>
              </a:rPr>
              <a:t>886 pass similarity 0.40 (0.57%)</a:t>
            </a:r>
          </a:p>
          <a:p>
            <a:pPr>
              <a:spcAft>
                <a:spcPts val="1000"/>
              </a:spcAft>
            </a:pPr>
            <a:r>
              <a:rPr sz="1450" b="1">
                <a:solidFill>
                  <a:srgbClr val="D62828"/>
                </a:solidFill>
                <a:latin typeface="Liberation Sans"/>
              </a:rPr>
              <a:t>•  </a:t>
            </a:r>
            <a:r>
              <a:rPr sz="1450">
                <a:solidFill>
                  <a:srgbClr val="16213E"/>
                </a:solidFill>
                <a:latin typeface="Liberation Sans"/>
              </a:rPr>
              <a:t>96 pass strict 0.52 (0.062%)</a:t>
            </a:r>
          </a:p>
          <a:p>
            <a:pPr>
              <a:spcAft>
                <a:spcPts val="1000"/>
              </a:spcAft>
            </a:pPr>
            <a:r>
              <a:rPr sz="1450" b="1">
                <a:solidFill>
                  <a:srgbClr val="D62828"/>
                </a:solidFill>
                <a:latin typeface="Liberation Sans"/>
              </a:rPr>
              <a:t>•  </a:t>
            </a:r>
            <a:r>
              <a:rPr sz="1450">
                <a:solidFill>
                  <a:srgbClr val="16213E"/>
                </a:solidFill>
                <a:latin typeface="Liberation Sans"/>
              </a:rPr>
              <a:t>0 of the top 100 pass 0.40</a:t>
            </a:r>
          </a:p>
          <a:p>
            <a:pPr>
              <a:spcAft>
                <a:spcPts val="1000"/>
              </a:spcAft>
            </a:pPr>
            <a:r>
              <a:rPr sz="1450" b="1">
                <a:solidFill>
                  <a:srgbClr val="D62828"/>
                </a:solidFill>
                <a:latin typeface="Liberation Sans"/>
              </a:rPr>
              <a:t>•  </a:t>
            </a:r>
            <a:r>
              <a:rPr sz="1450">
                <a:solidFill>
                  <a:srgbClr val="16213E"/>
                </a:solidFill>
                <a:latin typeface="Liberation Sans"/>
              </a:rPr>
              <a:t>0 of the top 100 pass 0.52</a:t>
            </a:r>
          </a:p>
        </p:txBody>
      </p:sp>
      <p:sp>
        <p:nvSpPr>
          <p:cNvPr id="8" name="TextBox 7"/>
          <p:cNvSpPr txBox="1"/>
          <p:nvPr/>
        </p:nvSpPr>
        <p:spPr>
          <a:xfrm>
            <a:off x="8001000" y="5138928"/>
            <a:ext cx="3657600" cy="914400"/>
          </a:xfrm>
          <a:prstGeom prst="rect">
            <a:avLst/>
          </a:prstGeom>
          <a:noFill/>
          <a:effectLst/>
        </p:spPr>
        <p:txBody>
          <a:bodyPr wrap="square" anchor="t" lIns="0" rIns="0" tIns="0" bIns="0">
            <a:spAutoFit/>
          </a:bodyPr>
          <a:lstStyle/>
          <a:p>
            <a:pPr algn="l"/>
            <a:r>
              <a:rPr sz="1350" b="1" i="0">
                <a:solidFill>
                  <a:srgbClr val="D62828"/>
                </a:solidFill>
                <a:latin typeface="Liberation Sans"/>
              </a:rPr>
              <a:t>If active support and model agreement are also required, the pool may be empty. An empty shortlist is a valid scientific result.</a:t>
            </a:r>
          </a:p>
        </p:txBody>
      </p:sp>
      <p:sp>
        <p:nvSpPr>
          <p:cNvPr id="9" name="TextBox 8"/>
          <p:cNvSpPr txBox="1"/>
          <p:nvPr/>
        </p:nvSpPr>
        <p:spPr>
          <a:xfrm>
            <a:off x="594360" y="6519672"/>
            <a:ext cx="10058400" cy="201168"/>
          </a:xfrm>
          <a:prstGeom prst="rect">
            <a:avLst/>
          </a:prstGeom>
          <a:noFill/>
          <a:effectLst/>
        </p:spPr>
        <p:txBody>
          <a:bodyPr wrap="square" anchor="t" lIns="0" rIns="0" tIns="0" bIns="0">
            <a:spAutoFit/>
          </a:bodyPr>
          <a:lstStyle/>
          <a:p>
            <a:pPr algn="l"/>
            <a:r>
              <a:rPr sz="850" b="0" i="0">
                <a:solidFill>
                  <a:srgbClr val="8D99AE"/>
                </a:solidFill>
                <a:latin typeface="Liberation Sans"/>
              </a:rPr>
              <a:t>MDM2 pipeline review  ·  645 training compounds / 154,587 screening compounds  ·  data: 2026-10-26</a:t>
            </a:r>
          </a:p>
        </p:txBody>
      </p:sp>
      <p:sp>
        <p:nvSpPr>
          <p:cNvPr id="10" name="TextBox 9"/>
          <p:cNvSpPr txBox="1"/>
          <p:nvPr/>
        </p:nvSpPr>
        <p:spPr>
          <a:xfrm>
            <a:off x="11155680" y="6519672"/>
            <a:ext cx="457200" cy="201168"/>
          </a:xfrm>
          <a:prstGeom prst="rect">
            <a:avLst/>
          </a:prstGeom>
          <a:noFill/>
          <a:effectLst/>
        </p:spPr>
        <p:txBody>
          <a:bodyPr wrap="square" anchor="t" lIns="0" rIns="0" tIns="0" bIns="0">
            <a:spAutoFit/>
          </a:bodyPr>
          <a:lstStyle/>
          <a:p>
            <a:pPr algn="r"/>
            <a:r>
              <a:rPr sz="850" b="0" i="0">
                <a:solidFill>
                  <a:srgbClr val="8D99AE"/>
                </a:solidFill>
                <a:latin typeface="Liberation Sans"/>
              </a:rPr>
              <a:t>4/10</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3" cy="0"/>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256032"/>
          </a:xfrm>
          <a:prstGeom prst="rect">
            <a:avLst/>
          </a:prstGeom>
          <a:noFill/>
          <a:effectLst/>
        </p:spPr>
        <p:txBody>
          <a:bodyPr wrap="square" anchor="t" lIns="0" rIns="0" tIns="0" bIns="0">
            <a:spAutoFit/>
          </a:bodyPr>
          <a:lstStyle/>
          <a:p>
            <a:pPr algn="l"/>
            <a:r>
              <a:rPr sz="1100" b="1" i="0">
                <a:solidFill>
                  <a:srgbClr val="D62828"/>
                </a:solidFill>
                <a:latin typeface="Liberation Sans"/>
              </a:rPr>
              <a:t>THE SMOKING GUN</a:t>
            </a:r>
          </a:p>
        </p:txBody>
      </p:sp>
      <p:sp>
        <p:nvSpPr>
          <p:cNvPr id="4" name="TextBox 3"/>
          <p:cNvSpPr txBox="1"/>
          <p:nvPr/>
        </p:nvSpPr>
        <p:spPr>
          <a:xfrm>
            <a:off x="594360" y="502920"/>
            <a:ext cx="10972800" cy="658368"/>
          </a:xfrm>
          <a:prstGeom prst="rect">
            <a:avLst/>
          </a:prstGeom>
          <a:noFill/>
          <a:effectLst/>
        </p:spPr>
        <p:txBody>
          <a:bodyPr wrap="square" anchor="t" lIns="0" rIns="0" tIns="0" bIns="0">
            <a:spAutoFit/>
          </a:bodyPr>
          <a:lstStyle/>
          <a:p>
            <a:pPr algn="l"/>
            <a:r>
              <a:rPr sz="2900" b="1" i="0">
                <a:solidFill>
                  <a:srgbClr val="0B1F3A"/>
                </a:solidFill>
                <a:latin typeface="Liberation Sans"/>
              </a:rPr>
              <a:t>Top predictions are the least similar compounds</a:t>
            </a:r>
          </a:p>
        </p:txBody>
      </p:sp>
      <p:sp>
        <p:nvSpPr>
          <p:cNvPr id="5" name="TextBox 4"/>
          <p:cNvSpPr txBox="1"/>
          <p:nvPr/>
        </p:nvSpPr>
        <p:spPr>
          <a:xfrm>
            <a:off x="612648" y="1170432"/>
            <a:ext cx="10789920" cy="384048"/>
          </a:xfrm>
          <a:prstGeom prst="rect">
            <a:avLst/>
          </a:prstGeom>
          <a:noFill/>
          <a:effectLst/>
        </p:spPr>
        <p:txBody>
          <a:bodyPr wrap="square" anchor="t" lIns="0" rIns="0" tIns="0" bIns="0">
            <a:spAutoFit/>
          </a:bodyPr>
          <a:lstStyle/>
          <a:p>
            <a:pPr algn="l"/>
            <a:r>
              <a:rPr sz="1450" b="0" i="0">
                <a:solidFill>
                  <a:srgbClr val="8D99AE"/>
                </a:solidFill>
                <a:latin typeface="Liberation Sans"/>
              </a:rPr>
              <a:t>Predicted pIC50 versus maximum similarity to training. The red points are the top 100 by prediction.</a:t>
            </a:r>
          </a:p>
        </p:txBody>
      </p:sp>
      <p:pic>
        <p:nvPicPr>
          <p:cNvPr id="6" name="Picture 5" descr="pred_vs_similarity.png"/>
          <p:cNvPicPr>
            <a:picLocks noChangeAspect="1"/>
          </p:cNvPicPr>
          <p:nvPr/>
        </p:nvPicPr>
        <p:blipFill>
          <a:blip r:embed="rId2"/>
          <a:stretch>
            <a:fillRect/>
          </a:stretch>
        </p:blipFill>
        <p:spPr>
          <a:xfrm>
            <a:off x="411480" y="1854428"/>
            <a:ext cx="7635240" cy="4200702"/>
          </a:xfrm>
          <a:prstGeom prst="rect">
            <a:avLst/>
          </a:prstGeom>
        </p:spPr>
      </p:pic>
      <p:sp>
        <p:nvSpPr>
          <p:cNvPr id="7" name="Rounded Rectangle 6"/>
          <p:cNvSpPr/>
          <p:nvPr/>
        </p:nvSpPr>
        <p:spPr>
          <a:xfrm>
            <a:off x="8183879" y="1810512"/>
            <a:ext cx="3474720" cy="1417320"/>
          </a:xfrm>
          <a:prstGeom prst="roundRect">
            <a:avLst>
              <a:gd name="adj" fmla="val 8000"/>
            </a:avLst>
          </a:prstGeom>
          <a:solidFill>
            <a:srgbClr val="FFFFFF"/>
          </a:solidFill>
          <a:ln w="15240">
            <a:solidFill>
              <a:srgbClr val="D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48471" y="1938528"/>
            <a:ext cx="3145536" cy="320040"/>
          </a:xfrm>
          <a:prstGeom prst="rect">
            <a:avLst/>
          </a:prstGeom>
          <a:noFill/>
          <a:effectLst/>
        </p:spPr>
        <p:txBody>
          <a:bodyPr wrap="square" anchor="t" lIns="0" rIns="0" tIns="0" bIns="0">
            <a:spAutoFit/>
          </a:bodyPr>
          <a:lstStyle/>
          <a:p>
            <a:pPr algn="l"/>
            <a:r>
              <a:rPr sz="1600" b="1" i="0">
                <a:solidFill>
                  <a:srgbClr val="D62828"/>
                </a:solidFill>
                <a:latin typeface="Liberation Sans"/>
              </a:rPr>
              <a:t>Top-100 signal</a:t>
            </a:r>
          </a:p>
        </p:txBody>
      </p:sp>
      <p:sp>
        <p:nvSpPr>
          <p:cNvPr id="9" name="TextBox 8"/>
          <p:cNvSpPr txBox="1"/>
          <p:nvPr/>
        </p:nvSpPr>
        <p:spPr>
          <a:xfrm>
            <a:off x="8348471" y="2286000"/>
            <a:ext cx="3145536" cy="850392"/>
          </a:xfrm>
          <a:prstGeom prst="rect">
            <a:avLst/>
          </a:prstGeom>
          <a:noFill/>
          <a:effectLst/>
        </p:spPr>
        <p:txBody>
          <a:bodyPr wrap="square" anchor="t" lIns="0" rIns="0" tIns="0" bIns="0">
            <a:spAutoFit/>
          </a:bodyPr>
          <a:lstStyle/>
          <a:p>
            <a:pPr algn="l"/>
            <a:r>
              <a:rPr sz="1300" b="0" i="0">
                <a:solidFill>
                  <a:srgbClr val="16213E"/>
                </a:solidFill>
                <a:latin typeface="Liberation Sans"/>
              </a:rPr>
              <a:t>Mean similarity 0.186
Library median 0.217
All 100 outside AD 0.40</a:t>
            </a:r>
          </a:p>
        </p:txBody>
      </p:sp>
      <p:sp>
        <p:nvSpPr>
          <p:cNvPr id="10" name="Rounded Rectangle 9"/>
          <p:cNvSpPr/>
          <p:nvPr/>
        </p:nvSpPr>
        <p:spPr>
          <a:xfrm>
            <a:off x="8183879" y="3383280"/>
            <a:ext cx="3474720" cy="1417320"/>
          </a:xfrm>
          <a:prstGeom prst="roundRect">
            <a:avLst>
              <a:gd name="adj" fmla="val 8000"/>
            </a:avLst>
          </a:prstGeom>
          <a:solidFill>
            <a:srgbClr val="FFFFFF"/>
          </a:solidFill>
          <a:ln w="15240">
            <a:solidFill>
              <a:srgbClr val="E76F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48471" y="3511296"/>
            <a:ext cx="3145536" cy="320040"/>
          </a:xfrm>
          <a:prstGeom prst="rect">
            <a:avLst/>
          </a:prstGeom>
          <a:noFill/>
          <a:effectLst/>
        </p:spPr>
        <p:txBody>
          <a:bodyPr wrap="square" anchor="t" lIns="0" rIns="0" tIns="0" bIns="0">
            <a:spAutoFit/>
          </a:bodyPr>
          <a:lstStyle/>
          <a:p>
            <a:pPr algn="l"/>
            <a:r>
              <a:rPr sz="1600" b="1" i="0">
                <a:solidFill>
                  <a:srgbClr val="E76F51"/>
                </a:solidFill>
                <a:latin typeface="Liberation Sans"/>
              </a:rPr>
              <a:t>What this means</a:t>
            </a:r>
          </a:p>
        </p:txBody>
      </p:sp>
      <p:sp>
        <p:nvSpPr>
          <p:cNvPr id="12" name="TextBox 11"/>
          <p:cNvSpPr txBox="1"/>
          <p:nvPr/>
        </p:nvSpPr>
        <p:spPr>
          <a:xfrm>
            <a:off x="8348471" y="3858768"/>
            <a:ext cx="3145536" cy="850392"/>
          </a:xfrm>
          <a:prstGeom prst="rect">
            <a:avLst/>
          </a:prstGeom>
          <a:noFill/>
          <a:effectLst/>
        </p:spPr>
        <p:txBody>
          <a:bodyPr wrap="square" anchor="t" lIns="0" rIns="0" tIns="0" bIns="0">
            <a:spAutoFit/>
          </a:bodyPr>
          <a:lstStyle/>
          <a:p>
            <a:pPr algn="l"/>
            <a:r>
              <a:rPr sz="1300" b="0" i="0">
                <a:solidFill>
                  <a:srgbClr val="16213E"/>
                </a:solidFill>
                <a:latin typeface="Liberation Sans"/>
              </a:rPr>
              <a:t>Its most extreme predictions occur exactly where evidence is weakest. This is extrapolation, not discovery.</a:t>
            </a:r>
          </a:p>
        </p:txBody>
      </p:sp>
      <p:sp>
        <p:nvSpPr>
          <p:cNvPr id="13" name="Rounded Rectangle 12"/>
          <p:cNvSpPr/>
          <p:nvPr/>
        </p:nvSpPr>
        <p:spPr>
          <a:xfrm>
            <a:off x="8183879" y="4956048"/>
            <a:ext cx="3474720" cy="1097280"/>
          </a:xfrm>
          <a:prstGeom prst="roundRect">
            <a:avLst>
              <a:gd name="adj" fmla="val 8000"/>
            </a:avLst>
          </a:prstGeom>
          <a:solidFill>
            <a:srgbClr val="FFFFFF"/>
          </a:solidFill>
          <a:ln w="15240">
            <a:solidFill>
              <a:srgbClr val="0B1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48471" y="5084064"/>
            <a:ext cx="3145536" cy="320040"/>
          </a:xfrm>
          <a:prstGeom prst="rect">
            <a:avLst/>
          </a:prstGeom>
          <a:noFill/>
          <a:effectLst/>
        </p:spPr>
        <p:txBody>
          <a:bodyPr wrap="square" anchor="t" lIns="0" rIns="0" tIns="0" bIns="0">
            <a:spAutoFit/>
          </a:bodyPr>
          <a:lstStyle/>
          <a:p>
            <a:pPr algn="l"/>
            <a:r>
              <a:rPr sz="1600" b="1" i="0">
                <a:solidFill>
                  <a:srgbClr val="0B1F3A"/>
                </a:solidFill>
                <a:latin typeface="Liberation Sans"/>
              </a:rPr>
              <a:t>Selection bias</a:t>
            </a:r>
          </a:p>
        </p:txBody>
      </p:sp>
      <p:sp>
        <p:nvSpPr>
          <p:cNvPr id="15" name="TextBox 14"/>
          <p:cNvSpPr txBox="1"/>
          <p:nvPr/>
        </p:nvSpPr>
        <p:spPr>
          <a:xfrm>
            <a:off x="8348471" y="5431536"/>
            <a:ext cx="3145536" cy="530352"/>
          </a:xfrm>
          <a:prstGeom prst="rect">
            <a:avLst/>
          </a:prstGeom>
          <a:noFill/>
          <a:effectLst/>
        </p:spPr>
        <p:txBody>
          <a:bodyPr wrap="square" anchor="t" lIns="0" rIns="0" tIns="0" bIns="0">
            <a:spAutoFit/>
          </a:bodyPr>
          <a:lstStyle/>
          <a:p>
            <a:pPr algn="l"/>
            <a:r>
              <a:rPr sz="1250" b="0" i="0">
                <a:solidFill>
                  <a:srgbClr val="16213E"/>
                </a:solidFill>
                <a:latin typeface="Liberation Sans"/>
              </a:rPr>
              <a:t>Choosing the maximum of 154k noisy predictions enriches for over-predictions. This is the winner's curse.</a:t>
            </a:r>
          </a:p>
        </p:txBody>
      </p:sp>
      <p:sp>
        <p:nvSpPr>
          <p:cNvPr id="16" name="TextBox 15"/>
          <p:cNvSpPr txBox="1"/>
          <p:nvPr/>
        </p:nvSpPr>
        <p:spPr>
          <a:xfrm>
            <a:off x="594360" y="6519672"/>
            <a:ext cx="10058400" cy="201168"/>
          </a:xfrm>
          <a:prstGeom prst="rect">
            <a:avLst/>
          </a:prstGeom>
          <a:noFill/>
          <a:effectLst/>
        </p:spPr>
        <p:txBody>
          <a:bodyPr wrap="square" anchor="t" lIns="0" rIns="0" tIns="0" bIns="0">
            <a:spAutoFit/>
          </a:bodyPr>
          <a:lstStyle/>
          <a:p>
            <a:pPr algn="l"/>
            <a:r>
              <a:rPr sz="850" b="0" i="0">
                <a:solidFill>
                  <a:srgbClr val="8D99AE"/>
                </a:solidFill>
                <a:latin typeface="Liberation Sans"/>
              </a:rPr>
              <a:t>MDM2 pipeline review  ·  645 training compounds / 154,587 screening compounds  ·  data: 2026-10-26</a:t>
            </a:r>
          </a:p>
        </p:txBody>
      </p:sp>
      <p:sp>
        <p:nvSpPr>
          <p:cNvPr id="17" name="TextBox 16"/>
          <p:cNvSpPr txBox="1"/>
          <p:nvPr/>
        </p:nvSpPr>
        <p:spPr>
          <a:xfrm>
            <a:off x="11155680" y="6519672"/>
            <a:ext cx="457200" cy="201168"/>
          </a:xfrm>
          <a:prstGeom prst="rect">
            <a:avLst/>
          </a:prstGeom>
          <a:noFill/>
          <a:effectLst/>
        </p:spPr>
        <p:txBody>
          <a:bodyPr wrap="square" anchor="t" lIns="0" rIns="0" tIns="0" bIns="0">
            <a:spAutoFit/>
          </a:bodyPr>
          <a:lstStyle/>
          <a:p>
            <a:pPr algn="r"/>
            <a:r>
              <a:rPr sz="850" b="0" i="0">
                <a:solidFill>
                  <a:srgbClr val="8D99AE"/>
                </a:solidFill>
                <a:latin typeface="Liberation Sans"/>
              </a:rPr>
              <a:t>5/10</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3" cy="0"/>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256032"/>
          </a:xfrm>
          <a:prstGeom prst="rect">
            <a:avLst/>
          </a:prstGeom>
          <a:noFill/>
          <a:effectLst/>
        </p:spPr>
        <p:txBody>
          <a:bodyPr wrap="square" anchor="t" lIns="0" rIns="0" tIns="0" bIns="0">
            <a:spAutoFit/>
          </a:bodyPr>
          <a:lstStyle/>
          <a:p>
            <a:pPr algn="l"/>
            <a:r>
              <a:rPr sz="1100" b="1" i="0">
                <a:solidFill>
                  <a:srgbClr val="D62828"/>
                </a:solidFill>
                <a:latin typeface="Liberation Sans"/>
              </a:rPr>
              <a:t>WHY THE NUMBERS LOOKED GOOD</a:t>
            </a:r>
          </a:p>
        </p:txBody>
      </p:sp>
      <p:sp>
        <p:nvSpPr>
          <p:cNvPr id="4" name="TextBox 3"/>
          <p:cNvSpPr txBox="1"/>
          <p:nvPr/>
        </p:nvSpPr>
        <p:spPr>
          <a:xfrm>
            <a:off x="594360" y="502920"/>
            <a:ext cx="10972800" cy="658368"/>
          </a:xfrm>
          <a:prstGeom prst="rect">
            <a:avLst/>
          </a:prstGeom>
          <a:noFill/>
          <a:effectLst/>
        </p:spPr>
        <p:txBody>
          <a:bodyPr wrap="square" anchor="t" lIns="0" rIns="0" tIns="0" bIns="0">
            <a:spAutoFit/>
          </a:bodyPr>
          <a:lstStyle/>
          <a:p>
            <a:pPr algn="l"/>
            <a:r>
              <a:rPr sz="2900" b="1" i="0">
                <a:solidFill>
                  <a:srgbClr val="0B1F3A"/>
                </a:solidFill>
                <a:latin typeface="Liberation Sans"/>
              </a:rPr>
              <a:t>Validation looked good because it was analog-rich</a:t>
            </a:r>
          </a:p>
        </p:txBody>
      </p:sp>
      <p:sp>
        <p:nvSpPr>
          <p:cNvPr id="5" name="TextBox 4"/>
          <p:cNvSpPr txBox="1"/>
          <p:nvPr/>
        </p:nvSpPr>
        <p:spPr>
          <a:xfrm>
            <a:off x="612648" y="1170432"/>
            <a:ext cx="10789920" cy="384048"/>
          </a:xfrm>
          <a:prstGeom prst="rect">
            <a:avLst/>
          </a:prstGeom>
          <a:noFill/>
          <a:effectLst/>
        </p:spPr>
        <p:txBody>
          <a:bodyPr wrap="square" anchor="t" lIns="0" rIns="0" tIns="0" bIns="0">
            <a:spAutoFit/>
          </a:bodyPr>
          <a:lstStyle/>
          <a:p>
            <a:pPr algn="l"/>
            <a:r>
              <a:rPr sz="1450" b="0" i="0">
                <a:solidFill>
                  <a:srgbClr val="8D99AE"/>
                </a:solidFill>
                <a:latin typeface="Liberation Sans"/>
              </a:rPr>
              <a:t>The test is scaffold-disjoint — good — but 97.7% of test compounds still pass the 0.40 similarity cut.</a:t>
            </a:r>
          </a:p>
        </p:txBody>
      </p:sp>
      <p:pic>
        <p:nvPicPr>
          <p:cNvPr id="6" name="Picture 5" descr="val_test_gap.png"/>
          <p:cNvPicPr>
            <a:picLocks noChangeAspect="1"/>
          </p:cNvPicPr>
          <p:nvPr/>
        </p:nvPicPr>
        <p:blipFill>
          <a:blip r:embed="rId2"/>
          <a:stretch>
            <a:fillRect/>
          </a:stretch>
        </p:blipFill>
        <p:spPr>
          <a:xfrm>
            <a:off x="411480" y="1957944"/>
            <a:ext cx="7498079" cy="3947951"/>
          </a:xfrm>
          <a:prstGeom prst="rect">
            <a:avLst/>
          </a:prstGeom>
        </p:spPr>
      </p:pic>
      <p:sp>
        <p:nvSpPr>
          <p:cNvPr id="7" name="TextBox 6"/>
          <p:cNvSpPr txBox="1"/>
          <p:nvPr/>
        </p:nvSpPr>
        <p:spPr>
          <a:xfrm>
            <a:off x="8092440" y="1828800"/>
            <a:ext cx="3566160" cy="3931920"/>
          </a:xfrm>
          <a:prstGeom prst="rect">
            <a:avLst/>
          </a:prstGeom>
          <a:noFill/>
          <a:effectLst/>
        </p:spPr>
        <p:txBody>
          <a:bodyPr wrap="square" lIns="0" rIns="0" tIns="0" bIns="0">
            <a:spAutoFit/>
          </a:bodyPr>
          <a:lstStyle/>
          <a:p>
            <a:pPr>
              <a:spcAft>
                <a:spcPts val="900"/>
              </a:spcAft>
            </a:pPr>
            <a:r>
              <a:rPr sz="1350" b="1">
                <a:solidFill>
                  <a:srgbClr val="D62828"/>
                </a:solidFill>
                <a:latin typeface="Liberation Sans"/>
              </a:rPr>
              <a:t>•  </a:t>
            </a:r>
            <a:r>
              <a:rPr sz="1350">
                <a:solidFill>
                  <a:srgbClr val="16213E"/>
                </a:solidFill>
                <a:latin typeface="Liberation Sans"/>
              </a:rPr>
              <a:t>42 of 52 validation compounds share a scaffold with training.</a:t>
            </a:r>
          </a:p>
          <a:p>
            <a:pPr>
              <a:spcAft>
                <a:spcPts val="900"/>
              </a:spcAft>
            </a:pPr>
            <a:r>
              <a:rPr sz="1350" b="1">
                <a:solidFill>
                  <a:srgbClr val="D62828"/>
                </a:solidFill>
                <a:latin typeface="Liberation Sans"/>
              </a:rPr>
              <a:t>•  </a:t>
            </a:r>
            <a:r>
              <a:rPr sz="1350">
                <a:solidFill>
                  <a:srgbClr val="16213E"/>
                </a:solidFill>
                <a:latin typeface="Liberation Sans"/>
              </a:rPr>
              <a:t>30 scaffolds are shared between train and validation.</a:t>
            </a:r>
          </a:p>
          <a:p>
            <a:pPr>
              <a:spcAft>
                <a:spcPts val="900"/>
              </a:spcAft>
            </a:pPr>
            <a:r>
              <a:rPr sz="1350" b="1">
                <a:solidFill>
                  <a:srgbClr val="D62828"/>
                </a:solidFill>
                <a:latin typeface="Liberation Sans"/>
              </a:rPr>
              <a:t>•  </a:t>
            </a:r>
            <a:r>
              <a:rPr sz="1350">
                <a:solidFill>
                  <a:srgbClr val="16213E"/>
                </a:solidFill>
                <a:latin typeface="Liberation Sans"/>
              </a:rPr>
              <a:t>Train–test and validation–test scaffold overlap is zero.</a:t>
            </a:r>
          </a:p>
          <a:p>
            <a:pPr>
              <a:spcAft>
                <a:spcPts val="900"/>
              </a:spcAft>
            </a:pPr>
            <a:r>
              <a:rPr sz="1350" b="1">
                <a:solidFill>
                  <a:srgbClr val="D62828"/>
                </a:solidFill>
                <a:latin typeface="Liberation Sans"/>
              </a:rPr>
              <a:t>•  </a:t>
            </a:r>
            <a:r>
              <a:rPr sz="1350">
                <a:solidFill>
                  <a:srgbClr val="16213E"/>
                </a:solidFill>
                <a:latin typeface="Liberation Sans"/>
              </a:rPr>
              <a:t>Val R² ≈ 0.87; test R² ≈ 0.65.</a:t>
            </a:r>
          </a:p>
          <a:p>
            <a:pPr>
              <a:spcAft>
                <a:spcPts val="900"/>
              </a:spcAft>
            </a:pPr>
            <a:r>
              <a:rPr sz="1350" b="1">
                <a:solidFill>
                  <a:srgbClr val="D62828"/>
                </a:solidFill>
                <a:latin typeface="Liberation Sans"/>
              </a:rPr>
              <a:t>•  </a:t>
            </a:r>
            <a:r>
              <a:rPr sz="1350">
                <a:solidFill>
                  <a:srgbClr val="16213E"/>
                </a:solidFill>
                <a:latin typeface="Liberation Sans"/>
              </a:rPr>
              <a:t>The test is cleaner than validation, but it is not the library.</a:t>
            </a:r>
          </a:p>
        </p:txBody>
      </p:sp>
      <p:sp>
        <p:nvSpPr>
          <p:cNvPr id="8" name="TextBox 7"/>
          <p:cNvSpPr txBox="1"/>
          <p:nvPr/>
        </p:nvSpPr>
        <p:spPr>
          <a:xfrm>
            <a:off x="8092440" y="5303520"/>
            <a:ext cx="3566160" cy="731520"/>
          </a:xfrm>
          <a:prstGeom prst="rect">
            <a:avLst/>
          </a:prstGeom>
          <a:noFill/>
          <a:effectLst/>
        </p:spPr>
        <p:txBody>
          <a:bodyPr wrap="square" anchor="t" lIns="0" rIns="0" tIns="0" bIns="0">
            <a:spAutoFit/>
          </a:bodyPr>
          <a:lstStyle/>
          <a:p>
            <a:pPr algn="l"/>
            <a:r>
              <a:rPr sz="1250" b="1" i="0">
                <a:solidFill>
                  <a:srgbClr val="D62828"/>
                </a:solidFill>
                <a:latin typeface="Liberation Sans"/>
              </a:rPr>
              <a:t>Model selection, early stopping, and calibration were all chosen on the analog-rich validation set.</a:t>
            </a:r>
          </a:p>
        </p:txBody>
      </p:sp>
      <p:sp>
        <p:nvSpPr>
          <p:cNvPr id="9" name="TextBox 8"/>
          <p:cNvSpPr txBox="1"/>
          <p:nvPr/>
        </p:nvSpPr>
        <p:spPr>
          <a:xfrm>
            <a:off x="594360" y="6519672"/>
            <a:ext cx="10058400" cy="201168"/>
          </a:xfrm>
          <a:prstGeom prst="rect">
            <a:avLst/>
          </a:prstGeom>
          <a:noFill/>
          <a:effectLst/>
        </p:spPr>
        <p:txBody>
          <a:bodyPr wrap="square" anchor="t" lIns="0" rIns="0" tIns="0" bIns="0">
            <a:spAutoFit/>
          </a:bodyPr>
          <a:lstStyle/>
          <a:p>
            <a:pPr algn="l"/>
            <a:r>
              <a:rPr sz="850" b="0" i="0">
                <a:solidFill>
                  <a:srgbClr val="8D99AE"/>
                </a:solidFill>
                <a:latin typeface="Liberation Sans"/>
              </a:rPr>
              <a:t>MDM2 pipeline review  ·  645 training compounds / 154,587 screening compounds  ·  data: 2026-10-26</a:t>
            </a:r>
          </a:p>
        </p:txBody>
      </p:sp>
      <p:sp>
        <p:nvSpPr>
          <p:cNvPr id="10" name="TextBox 9"/>
          <p:cNvSpPr txBox="1"/>
          <p:nvPr/>
        </p:nvSpPr>
        <p:spPr>
          <a:xfrm>
            <a:off x="11155680" y="6519672"/>
            <a:ext cx="457200" cy="201168"/>
          </a:xfrm>
          <a:prstGeom prst="rect">
            <a:avLst/>
          </a:prstGeom>
          <a:noFill/>
          <a:effectLst/>
        </p:spPr>
        <p:txBody>
          <a:bodyPr wrap="square" anchor="t" lIns="0" rIns="0" tIns="0" bIns="0">
            <a:spAutoFit/>
          </a:bodyPr>
          <a:lstStyle/>
          <a:p>
            <a:pPr algn="r"/>
            <a:r>
              <a:rPr sz="850" b="0" i="0">
                <a:solidFill>
                  <a:srgbClr val="8D99AE"/>
                </a:solidFill>
                <a:latin typeface="Liberation Sans"/>
              </a:rPr>
              <a:t>6/10</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3" cy="0"/>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256032"/>
          </a:xfrm>
          <a:prstGeom prst="rect">
            <a:avLst/>
          </a:prstGeom>
          <a:noFill/>
          <a:effectLst/>
        </p:spPr>
        <p:txBody>
          <a:bodyPr wrap="square" anchor="t" lIns="0" rIns="0" tIns="0" bIns="0">
            <a:spAutoFit/>
          </a:bodyPr>
          <a:lstStyle/>
          <a:p>
            <a:pPr algn="l"/>
            <a:r>
              <a:rPr sz="1100" b="1" i="0">
                <a:solidFill>
                  <a:srgbClr val="D62828"/>
                </a:solidFill>
                <a:latin typeface="Liberation Sans"/>
              </a:rPr>
              <a:t>THE CAUSAL CHAIN</a:t>
            </a:r>
          </a:p>
        </p:txBody>
      </p:sp>
      <p:sp>
        <p:nvSpPr>
          <p:cNvPr id="4" name="TextBox 3"/>
          <p:cNvSpPr txBox="1"/>
          <p:nvPr/>
        </p:nvSpPr>
        <p:spPr>
          <a:xfrm>
            <a:off x="594360" y="502920"/>
            <a:ext cx="10972800" cy="658368"/>
          </a:xfrm>
          <a:prstGeom prst="rect">
            <a:avLst/>
          </a:prstGeom>
          <a:noFill/>
          <a:effectLst/>
        </p:spPr>
        <p:txBody>
          <a:bodyPr wrap="square" anchor="t" lIns="0" rIns="0" tIns="0" bIns="0">
            <a:spAutoFit/>
          </a:bodyPr>
          <a:lstStyle/>
          <a:p>
            <a:pPr algn="l"/>
            <a:r>
              <a:rPr sz="2900" b="1" i="0">
                <a:solidFill>
                  <a:srgbClr val="0B1F3A"/>
                </a:solidFill>
                <a:latin typeface="Liberation Sans"/>
              </a:rPr>
              <a:t>One mismatch, amplified by one selection rule</a:t>
            </a:r>
          </a:p>
        </p:txBody>
      </p:sp>
      <p:sp>
        <p:nvSpPr>
          <p:cNvPr id="5" name="Rounded Rectangle 4"/>
          <p:cNvSpPr/>
          <p:nvPr/>
        </p:nvSpPr>
        <p:spPr>
          <a:xfrm>
            <a:off x="502920" y="1828800"/>
            <a:ext cx="2057400" cy="1051560"/>
          </a:xfrm>
          <a:prstGeom prst="roundRect">
            <a:avLst>
              <a:gd name="adj" fmla="val 8000"/>
            </a:avLst>
          </a:prstGeom>
          <a:solidFill>
            <a:srgbClr val="FFFFFF"/>
          </a:solidFill>
          <a:ln w="1524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1956816"/>
            <a:ext cx="1728216" cy="320040"/>
          </a:xfrm>
          <a:prstGeom prst="rect">
            <a:avLst/>
          </a:prstGeom>
          <a:noFill/>
          <a:effectLst/>
        </p:spPr>
        <p:txBody>
          <a:bodyPr wrap="square" anchor="t" lIns="0" rIns="0" tIns="0" bIns="0">
            <a:spAutoFit/>
          </a:bodyPr>
          <a:lstStyle/>
          <a:p>
            <a:pPr algn="l"/>
            <a:r>
              <a:rPr sz="1500" b="1" i="0">
                <a:solidFill>
                  <a:srgbClr val="2A9D8F"/>
                </a:solidFill>
                <a:latin typeface="Liberation Sans"/>
              </a:rPr>
              <a:t>645 analogs</a:t>
            </a:r>
          </a:p>
        </p:txBody>
      </p:sp>
      <p:sp>
        <p:nvSpPr>
          <p:cNvPr id="7" name="TextBox 6"/>
          <p:cNvSpPr txBox="1"/>
          <p:nvPr/>
        </p:nvSpPr>
        <p:spPr>
          <a:xfrm>
            <a:off x="667512" y="2304288"/>
            <a:ext cx="1728216" cy="484631"/>
          </a:xfrm>
          <a:prstGeom prst="rect">
            <a:avLst/>
          </a:prstGeom>
          <a:noFill/>
          <a:effectLst/>
        </p:spPr>
        <p:txBody>
          <a:bodyPr wrap="square" anchor="t" lIns="0" rIns="0" tIns="0" bIns="0">
            <a:spAutoFit/>
          </a:bodyPr>
          <a:lstStyle/>
          <a:p>
            <a:pPr algn="l"/>
            <a:r>
              <a:rPr sz="1150" b="0" i="0">
                <a:solidFill>
                  <a:srgbClr val="16213E"/>
                </a:solidFill>
                <a:latin typeface="Liberation Sans"/>
              </a:rPr>
              <a:t>small, biased chemical neighborhood</a:t>
            </a:r>
          </a:p>
        </p:txBody>
      </p:sp>
      <p:sp>
        <p:nvSpPr>
          <p:cNvPr id="8" name="Rounded Rectangle 7"/>
          <p:cNvSpPr/>
          <p:nvPr/>
        </p:nvSpPr>
        <p:spPr>
          <a:xfrm>
            <a:off x="2788920" y="1828800"/>
            <a:ext cx="2057400" cy="1051560"/>
          </a:xfrm>
          <a:prstGeom prst="roundRect">
            <a:avLst>
              <a:gd name="adj" fmla="val 8000"/>
            </a:avLst>
          </a:prstGeom>
          <a:solidFill>
            <a:srgbClr val="FFFFFF"/>
          </a:solidFill>
          <a:ln w="15240">
            <a:solidFill>
              <a:srgbClr val="D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53512" y="1956816"/>
            <a:ext cx="1728216" cy="320040"/>
          </a:xfrm>
          <a:prstGeom prst="rect">
            <a:avLst/>
          </a:prstGeom>
          <a:noFill/>
          <a:effectLst/>
        </p:spPr>
        <p:txBody>
          <a:bodyPr wrap="square" anchor="t" lIns="0" rIns="0" tIns="0" bIns="0">
            <a:spAutoFit/>
          </a:bodyPr>
          <a:lstStyle/>
          <a:p>
            <a:pPr algn="l"/>
            <a:r>
              <a:rPr sz="1500" b="1" i="0">
                <a:solidFill>
                  <a:srgbClr val="D62828"/>
                </a:solidFill>
                <a:latin typeface="Liberation Sans"/>
              </a:rPr>
              <a:t>Analog validation</a:t>
            </a:r>
          </a:p>
        </p:txBody>
      </p:sp>
      <p:sp>
        <p:nvSpPr>
          <p:cNvPr id="10" name="TextBox 9"/>
          <p:cNvSpPr txBox="1"/>
          <p:nvPr/>
        </p:nvSpPr>
        <p:spPr>
          <a:xfrm>
            <a:off x="2953512" y="2304288"/>
            <a:ext cx="1728216" cy="484631"/>
          </a:xfrm>
          <a:prstGeom prst="rect">
            <a:avLst/>
          </a:prstGeom>
          <a:noFill/>
          <a:effectLst/>
        </p:spPr>
        <p:txBody>
          <a:bodyPr wrap="square" anchor="t" lIns="0" rIns="0" tIns="0" bIns="0">
            <a:spAutoFit/>
          </a:bodyPr>
          <a:lstStyle/>
          <a:p>
            <a:pPr algn="l"/>
            <a:r>
              <a:rPr sz="1150" b="0" i="0">
                <a:solidFill>
                  <a:srgbClr val="16213E"/>
                </a:solidFill>
                <a:latin typeface="Liberation Sans"/>
              </a:rPr>
              <a:t>42/52 val share a train scaffold</a:t>
            </a:r>
          </a:p>
        </p:txBody>
      </p:sp>
      <p:sp>
        <p:nvSpPr>
          <p:cNvPr id="11" name="Rounded Rectangle 10"/>
          <p:cNvSpPr/>
          <p:nvPr/>
        </p:nvSpPr>
        <p:spPr>
          <a:xfrm>
            <a:off x="5074920" y="1828800"/>
            <a:ext cx="2057400" cy="1051560"/>
          </a:xfrm>
          <a:prstGeom prst="roundRect">
            <a:avLst>
              <a:gd name="adj" fmla="val 8000"/>
            </a:avLst>
          </a:prstGeom>
          <a:solidFill>
            <a:srgbClr val="FFFFFF"/>
          </a:solidFill>
          <a:ln w="15240">
            <a:solidFill>
              <a:srgbClr val="D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39512" y="1956816"/>
            <a:ext cx="1728216" cy="320040"/>
          </a:xfrm>
          <a:prstGeom prst="rect">
            <a:avLst/>
          </a:prstGeom>
          <a:noFill/>
          <a:effectLst/>
        </p:spPr>
        <p:txBody>
          <a:bodyPr wrap="square" anchor="t" lIns="0" rIns="0" tIns="0" bIns="0">
            <a:spAutoFit/>
          </a:bodyPr>
          <a:lstStyle/>
          <a:p>
            <a:pPr algn="l"/>
            <a:r>
              <a:rPr sz="1500" b="1" i="0">
                <a:solidFill>
                  <a:srgbClr val="D62828"/>
                </a:solidFill>
                <a:latin typeface="Liberation Sans"/>
              </a:rPr>
              <a:t>Select + calibrate</a:t>
            </a:r>
          </a:p>
        </p:txBody>
      </p:sp>
      <p:sp>
        <p:nvSpPr>
          <p:cNvPr id="13" name="TextBox 12"/>
          <p:cNvSpPr txBox="1"/>
          <p:nvPr/>
        </p:nvSpPr>
        <p:spPr>
          <a:xfrm>
            <a:off x="5239512" y="2304288"/>
            <a:ext cx="1728216" cy="484631"/>
          </a:xfrm>
          <a:prstGeom prst="rect">
            <a:avLst/>
          </a:prstGeom>
          <a:noFill/>
          <a:effectLst/>
        </p:spPr>
        <p:txBody>
          <a:bodyPr wrap="square" anchor="t" lIns="0" rIns="0" tIns="0" bIns="0">
            <a:spAutoFit/>
          </a:bodyPr>
          <a:lstStyle/>
          <a:p>
            <a:pPr algn="l"/>
            <a:r>
              <a:rPr sz="1150" b="0" i="0">
                <a:solidFill>
                  <a:srgbClr val="16213E"/>
                </a:solidFill>
                <a:latin typeface="Liberation Sans"/>
              </a:rPr>
              <a:t>choose the best on analogs</a:t>
            </a:r>
          </a:p>
        </p:txBody>
      </p:sp>
      <p:sp>
        <p:nvSpPr>
          <p:cNvPr id="14" name="Rounded Rectangle 13"/>
          <p:cNvSpPr/>
          <p:nvPr/>
        </p:nvSpPr>
        <p:spPr>
          <a:xfrm>
            <a:off x="7360920" y="1828800"/>
            <a:ext cx="2057400" cy="1051560"/>
          </a:xfrm>
          <a:prstGeom prst="roundRect">
            <a:avLst>
              <a:gd name="adj" fmla="val 8000"/>
            </a:avLst>
          </a:prstGeom>
          <a:solidFill>
            <a:srgbClr val="FFFFFF"/>
          </a:solidFill>
          <a:ln w="15240">
            <a:solidFill>
              <a:srgbClr val="D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25512" y="1956816"/>
            <a:ext cx="1728216" cy="320040"/>
          </a:xfrm>
          <a:prstGeom prst="rect">
            <a:avLst/>
          </a:prstGeom>
          <a:noFill/>
          <a:effectLst/>
        </p:spPr>
        <p:txBody>
          <a:bodyPr wrap="square" anchor="t" lIns="0" rIns="0" tIns="0" bIns="0">
            <a:spAutoFit/>
          </a:bodyPr>
          <a:lstStyle/>
          <a:p>
            <a:pPr algn="l"/>
            <a:r>
              <a:rPr sz="1500" b="1" i="0">
                <a:solidFill>
                  <a:srgbClr val="D62828"/>
                </a:solidFill>
                <a:latin typeface="Liberation Sans"/>
              </a:rPr>
              <a:t>154k library</a:t>
            </a:r>
          </a:p>
        </p:txBody>
      </p:sp>
      <p:sp>
        <p:nvSpPr>
          <p:cNvPr id="16" name="TextBox 15"/>
          <p:cNvSpPr txBox="1"/>
          <p:nvPr/>
        </p:nvSpPr>
        <p:spPr>
          <a:xfrm>
            <a:off x="7525512" y="2304288"/>
            <a:ext cx="1728216" cy="484631"/>
          </a:xfrm>
          <a:prstGeom prst="rect">
            <a:avLst/>
          </a:prstGeom>
          <a:noFill/>
          <a:effectLst/>
        </p:spPr>
        <p:txBody>
          <a:bodyPr wrap="square" anchor="t" lIns="0" rIns="0" tIns="0" bIns="0">
            <a:spAutoFit/>
          </a:bodyPr>
          <a:lstStyle/>
          <a:p>
            <a:pPr algn="l"/>
            <a:r>
              <a:rPr sz="1150" b="0" i="0">
                <a:solidFill>
                  <a:srgbClr val="16213E"/>
                </a:solidFill>
                <a:latin typeface="Liberation Sans"/>
              </a:rPr>
              <a:t>99.4% outside AD 0.40</a:t>
            </a:r>
          </a:p>
        </p:txBody>
      </p:sp>
      <p:sp>
        <p:nvSpPr>
          <p:cNvPr id="17" name="Rounded Rectangle 16"/>
          <p:cNvSpPr/>
          <p:nvPr/>
        </p:nvSpPr>
        <p:spPr>
          <a:xfrm>
            <a:off x="9646920" y="1828800"/>
            <a:ext cx="2057400" cy="1051560"/>
          </a:xfrm>
          <a:prstGeom prst="roundRect">
            <a:avLst>
              <a:gd name="adj" fmla="val 8000"/>
            </a:avLst>
          </a:prstGeom>
          <a:solidFill>
            <a:srgbClr val="FFFFFF"/>
          </a:solidFill>
          <a:ln w="15240">
            <a:solidFill>
              <a:srgbClr val="D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11512" y="1956816"/>
            <a:ext cx="1728216" cy="320040"/>
          </a:xfrm>
          <a:prstGeom prst="rect">
            <a:avLst/>
          </a:prstGeom>
          <a:noFill/>
          <a:effectLst/>
        </p:spPr>
        <p:txBody>
          <a:bodyPr wrap="square" anchor="t" lIns="0" rIns="0" tIns="0" bIns="0">
            <a:spAutoFit/>
          </a:bodyPr>
          <a:lstStyle/>
          <a:p>
            <a:pPr algn="l"/>
            <a:r>
              <a:rPr sz="1500" b="1" i="0">
                <a:solidFill>
                  <a:srgbClr val="D62828"/>
                </a:solidFill>
                <a:latin typeface="Liberation Sans"/>
              </a:rPr>
              <a:t>Top-100</a:t>
            </a:r>
          </a:p>
        </p:txBody>
      </p:sp>
      <p:sp>
        <p:nvSpPr>
          <p:cNvPr id="19" name="TextBox 18"/>
          <p:cNvSpPr txBox="1"/>
          <p:nvPr/>
        </p:nvSpPr>
        <p:spPr>
          <a:xfrm>
            <a:off x="9811512" y="2304288"/>
            <a:ext cx="1728216" cy="484631"/>
          </a:xfrm>
          <a:prstGeom prst="rect">
            <a:avLst/>
          </a:prstGeom>
          <a:noFill/>
          <a:effectLst/>
        </p:spPr>
        <p:txBody>
          <a:bodyPr wrap="square" anchor="t" lIns="0" rIns="0" tIns="0" bIns="0">
            <a:spAutoFit/>
          </a:bodyPr>
          <a:lstStyle/>
          <a:p>
            <a:pPr algn="l"/>
            <a:r>
              <a:rPr sz="1150" b="0" i="0">
                <a:solidFill>
                  <a:srgbClr val="16213E"/>
                </a:solidFill>
                <a:latin typeface="Liberation Sans"/>
              </a:rPr>
              <a:t>all outside AD; mean 0.186</a:t>
            </a:r>
          </a:p>
        </p:txBody>
      </p:sp>
      <p:sp>
        <p:nvSpPr>
          <p:cNvPr id="20" name="Right Arrow 19"/>
          <p:cNvSpPr/>
          <p:nvPr/>
        </p:nvSpPr>
        <p:spPr>
          <a:xfrm>
            <a:off x="2578608" y="2167128"/>
            <a:ext cx="182880" cy="347472"/>
          </a:xfrm>
          <a:prstGeom prst="rightArrow">
            <a:avLst/>
          </a:prstGeom>
          <a:solidFill>
            <a:srgbClr val="8D99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ight Arrow 20"/>
          <p:cNvSpPr/>
          <p:nvPr/>
        </p:nvSpPr>
        <p:spPr>
          <a:xfrm>
            <a:off x="4864608" y="2167128"/>
            <a:ext cx="182880" cy="347472"/>
          </a:xfrm>
          <a:prstGeom prst="rightArrow">
            <a:avLst/>
          </a:prstGeom>
          <a:solidFill>
            <a:srgbClr val="8D99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ight Arrow 21"/>
          <p:cNvSpPr/>
          <p:nvPr/>
        </p:nvSpPr>
        <p:spPr>
          <a:xfrm>
            <a:off x="7150608" y="2167128"/>
            <a:ext cx="182880" cy="347472"/>
          </a:xfrm>
          <a:prstGeom prst="rightArrow">
            <a:avLst/>
          </a:prstGeom>
          <a:solidFill>
            <a:srgbClr val="8D99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ight Arrow 22"/>
          <p:cNvSpPr/>
          <p:nvPr/>
        </p:nvSpPr>
        <p:spPr>
          <a:xfrm>
            <a:off x="9436608" y="2167128"/>
            <a:ext cx="182880" cy="347472"/>
          </a:xfrm>
          <a:prstGeom prst="rightArrow">
            <a:avLst/>
          </a:prstGeom>
          <a:solidFill>
            <a:srgbClr val="8D99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3154680"/>
            <a:ext cx="10972800" cy="594360"/>
          </a:xfrm>
          <a:prstGeom prst="rect">
            <a:avLst/>
          </a:prstGeom>
          <a:noFill/>
          <a:effectLst/>
        </p:spPr>
        <p:txBody>
          <a:bodyPr wrap="square" anchor="t" lIns="0" rIns="0" tIns="0" bIns="0">
            <a:spAutoFit/>
          </a:bodyPr>
          <a:lstStyle/>
          <a:p>
            <a:pPr algn="l"/>
            <a:r>
              <a:rPr sz="1700" b="1" i="0">
                <a:solidFill>
                  <a:srgbClr val="D62828"/>
                </a:solidFill>
                <a:latin typeface="Liberation Sans"/>
              </a:rPr>
              <a:t>Two red links: the validation does not represent the library, and the shortlist selects the extrapolation tail.</a:t>
            </a:r>
          </a:p>
        </p:txBody>
      </p:sp>
      <p:sp>
        <p:nvSpPr>
          <p:cNvPr id="25" name="TextBox 24"/>
          <p:cNvSpPr txBox="1"/>
          <p:nvPr/>
        </p:nvSpPr>
        <p:spPr>
          <a:xfrm>
            <a:off x="594360" y="3977639"/>
            <a:ext cx="10972800" cy="320040"/>
          </a:xfrm>
          <a:prstGeom prst="rect">
            <a:avLst/>
          </a:prstGeom>
          <a:noFill/>
          <a:effectLst/>
        </p:spPr>
        <p:txBody>
          <a:bodyPr wrap="square" anchor="t" lIns="0" rIns="0" tIns="0" bIns="0">
            <a:spAutoFit/>
          </a:bodyPr>
          <a:lstStyle/>
          <a:p>
            <a:pPr algn="l"/>
            <a:r>
              <a:rPr sz="1500" b="1" i="0">
                <a:solidFill>
                  <a:srgbClr val="0B1F3A"/>
                </a:solidFill>
                <a:latin typeface="Liberation Sans"/>
              </a:rPr>
              <a:t>Code-level amplifiers (not the root cause)</a:t>
            </a:r>
          </a:p>
        </p:txBody>
      </p:sp>
      <p:sp>
        <p:nvSpPr>
          <p:cNvPr id="26" name="Rounded Rectangle 25"/>
          <p:cNvSpPr/>
          <p:nvPr/>
        </p:nvSpPr>
        <p:spPr>
          <a:xfrm>
            <a:off x="594360" y="4389120"/>
            <a:ext cx="2697480" cy="1325880"/>
          </a:xfrm>
          <a:prstGeom prst="roundRect">
            <a:avLst>
              <a:gd name="adj" fmla="val 8000"/>
            </a:avLst>
          </a:prstGeom>
          <a:solidFill>
            <a:srgbClr val="FFFFFF"/>
          </a:solidFill>
          <a:ln w="15240">
            <a:solidFill>
              <a:srgbClr val="E76F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8952" y="4517136"/>
            <a:ext cx="2368296" cy="320040"/>
          </a:xfrm>
          <a:prstGeom prst="rect">
            <a:avLst/>
          </a:prstGeom>
          <a:noFill/>
          <a:effectLst/>
        </p:spPr>
        <p:txBody>
          <a:bodyPr wrap="square" anchor="t" lIns="0" rIns="0" tIns="0" bIns="0">
            <a:spAutoFit/>
          </a:bodyPr>
          <a:lstStyle/>
          <a:p>
            <a:pPr algn="l"/>
            <a:r>
              <a:rPr sz="1350" b="1" i="0">
                <a:solidFill>
                  <a:srgbClr val="E76F51"/>
                </a:solidFill>
                <a:latin typeface="Liberation Sans"/>
              </a:rPr>
              <a:t>Active evidence</a:t>
            </a:r>
          </a:p>
        </p:txBody>
      </p:sp>
      <p:sp>
        <p:nvSpPr>
          <p:cNvPr id="28" name="TextBox 27"/>
          <p:cNvSpPr txBox="1"/>
          <p:nvPr/>
        </p:nvSpPr>
        <p:spPr>
          <a:xfrm>
            <a:off x="758952" y="4864608"/>
            <a:ext cx="2368296" cy="758952"/>
          </a:xfrm>
          <a:prstGeom prst="rect">
            <a:avLst/>
          </a:prstGeom>
          <a:noFill/>
          <a:effectLst/>
        </p:spPr>
        <p:txBody>
          <a:bodyPr wrap="square" anchor="t" lIns="0" rIns="0" tIns="0" bIns="0">
            <a:spAutoFit/>
          </a:bodyPr>
          <a:lstStyle/>
          <a:p>
            <a:pPr algn="l"/>
            <a:r>
              <a:rPr sz="1080" b="0" i="0">
                <a:solidFill>
                  <a:srgbClr val="16213E"/>
                </a:solidFill>
                <a:latin typeface="Liberation Sans"/>
              </a:rPr>
              <a:t>all 645 actives used, including test; 52 test actives self-match</a:t>
            </a:r>
          </a:p>
        </p:txBody>
      </p:sp>
      <p:sp>
        <p:nvSpPr>
          <p:cNvPr id="29" name="Rounded Rectangle 28"/>
          <p:cNvSpPr/>
          <p:nvPr/>
        </p:nvSpPr>
        <p:spPr>
          <a:xfrm>
            <a:off x="3447288" y="4389120"/>
            <a:ext cx="2697480" cy="1325880"/>
          </a:xfrm>
          <a:prstGeom prst="roundRect">
            <a:avLst>
              <a:gd name="adj" fmla="val 8000"/>
            </a:avLst>
          </a:prstGeom>
          <a:solidFill>
            <a:srgbClr val="FFFFFF"/>
          </a:solidFill>
          <a:ln w="15240">
            <a:solidFill>
              <a:srgbClr val="E76F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11880" y="4517136"/>
            <a:ext cx="2368296" cy="320040"/>
          </a:xfrm>
          <a:prstGeom prst="rect">
            <a:avLst/>
          </a:prstGeom>
          <a:noFill/>
          <a:effectLst/>
        </p:spPr>
        <p:txBody>
          <a:bodyPr wrap="square" anchor="t" lIns="0" rIns="0" tIns="0" bIns="0">
            <a:spAutoFit/>
          </a:bodyPr>
          <a:lstStyle/>
          <a:p>
            <a:pPr algn="l"/>
            <a:r>
              <a:rPr sz="1350" b="1" i="0">
                <a:solidFill>
                  <a:srgbClr val="E76F51"/>
                </a:solidFill>
                <a:latin typeface="Liberation Sans"/>
              </a:rPr>
              <a:t>NNLS label</a:t>
            </a:r>
          </a:p>
        </p:txBody>
      </p:sp>
      <p:sp>
        <p:nvSpPr>
          <p:cNvPr id="31" name="TextBox 30"/>
          <p:cNvSpPr txBox="1"/>
          <p:nvPr/>
        </p:nvSpPr>
        <p:spPr>
          <a:xfrm>
            <a:off x="3611880" y="4864608"/>
            <a:ext cx="2368296" cy="758952"/>
          </a:xfrm>
          <a:prstGeom prst="rect">
            <a:avLst/>
          </a:prstGeom>
          <a:noFill/>
          <a:effectLst/>
        </p:spPr>
        <p:txBody>
          <a:bodyPr wrap="square" anchor="t" lIns="0" rIns="0" tIns="0" bIns="0">
            <a:spAutoFit/>
          </a:bodyPr>
          <a:lstStyle/>
          <a:p>
            <a:pPr algn="l"/>
            <a:r>
              <a:rPr sz="1080" b="0" i="0">
                <a:solidFill>
                  <a:srgbClr val="16213E"/>
                </a:solidFill>
                <a:latin typeface="Liberation Sans"/>
              </a:rPr>
              <a:t>‘NNLS ensemble’ row is actually the simple mean</a:t>
            </a:r>
          </a:p>
        </p:txBody>
      </p:sp>
      <p:sp>
        <p:nvSpPr>
          <p:cNvPr id="32" name="Rounded Rectangle 31"/>
          <p:cNvSpPr/>
          <p:nvPr/>
        </p:nvSpPr>
        <p:spPr>
          <a:xfrm>
            <a:off x="6300216" y="4389120"/>
            <a:ext cx="2697480" cy="1325880"/>
          </a:xfrm>
          <a:prstGeom prst="roundRect">
            <a:avLst>
              <a:gd name="adj" fmla="val 8000"/>
            </a:avLst>
          </a:prstGeom>
          <a:solidFill>
            <a:srgbClr val="FFFFFF"/>
          </a:solidFill>
          <a:ln w="15240">
            <a:solidFill>
              <a:srgbClr val="E76F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64808" y="4517136"/>
            <a:ext cx="2368296" cy="320040"/>
          </a:xfrm>
          <a:prstGeom prst="rect">
            <a:avLst/>
          </a:prstGeom>
          <a:noFill/>
          <a:effectLst/>
        </p:spPr>
        <p:txBody>
          <a:bodyPr wrap="square" anchor="t" lIns="0" rIns="0" tIns="0" bIns="0">
            <a:spAutoFit/>
          </a:bodyPr>
          <a:lstStyle/>
          <a:p>
            <a:pPr algn="l"/>
            <a:r>
              <a:rPr sz="1350" b="1" i="0">
                <a:solidFill>
                  <a:srgbClr val="E76F51"/>
                </a:solidFill>
                <a:latin typeface="Liberation Sans"/>
              </a:rPr>
              <a:t>Tier mismatch</a:t>
            </a:r>
          </a:p>
        </p:txBody>
      </p:sp>
      <p:sp>
        <p:nvSpPr>
          <p:cNvPr id="34" name="TextBox 33"/>
          <p:cNvSpPr txBox="1"/>
          <p:nvPr/>
        </p:nvSpPr>
        <p:spPr>
          <a:xfrm>
            <a:off x="6464808" y="4864608"/>
            <a:ext cx="2368296" cy="758952"/>
          </a:xfrm>
          <a:prstGeom prst="rect">
            <a:avLst/>
          </a:prstGeom>
          <a:noFill/>
          <a:effectLst/>
        </p:spPr>
        <p:txBody>
          <a:bodyPr wrap="square" anchor="t" lIns="0" rIns="0" tIns="0" bIns="0">
            <a:spAutoFit/>
          </a:bodyPr>
          <a:lstStyle/>
          <a:p>
            <a:pPr algn="l"/>
            <a:r>
              <a:rPr sz="1080" b="0" i="0">
                <a:solidFill>
                  <a:srgbClr val="16213E"/>
                </a:solidFill>
                <a:latin typeface="Liberation Sans"/>
              </a:rPr>
              <a:t>tier uses 0.40 while the shortlist uses 0.52</a:t>
            </a:r>
          </a:p>
        </p:txBody>
      </p:sp>
      <p:sp>
        <p:nvSpPr>
          <p:cNvPr id="35" name="Rounded Rectangle 34"/>
          <p:cNvSpPr/>
          <p:nvPr/>
        </p:nvSpPr>
        <p:spPr>
          <a:xfrm>
            <a:off x="9153144" y="4389120"/>
            <a:ext cx="2697480" cy="1325880"/>
          </a:xfrm>
          <a:prstGeom prst="roundRect">
            <a:avLst>
              <a:gd name="adj" fmla="val 8000"/>
            </a:avLst>
          </a:prstGeom>
          <a:solidFill>
            <a:srgbClr val="FFFFFF"/>
          </a:solidFill>
          <a:ln w="15240">
            <a:solidFill>
              <a:srgbClr val="E76F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317736" y="4517136"/>
            <a:ext cx="2368296" cy="320040"/>
          </a:xfrm>
          <a:prstGeom prst="rect">
            <a:avLst/>
          </a:prstGeom>
          <a:noFill/>
          <a:effectLst/>
        </p:spPr>
        <p:txBody>
          <a:bodyPr wrap="square" anchor="t" lIns="0" rIns="0" tIns="0" bIns="0">
            <a:spAutoFit/>
          </a:bodyPr>
          <a:lstStyle/>
          <a:p>
            <a:pPr algn="l"/>
            <a:r>
              <a:rPr sz="1350" b="1" i="0">
                <a:solidFill>
                  <a:srgbClr val="E76F51"/>
                </a:solidFill>
                <a:latin typeface="Liberation Sans"/>
              </a:rPr>
              <a:t>Stale cache</a:t>
            </a:r>
          </a:p>
        </p:txBody>
      </p:sp>
      <p:sp>
        <p:nvSpPr>
          <p:cNvPr id="37" name="TextBox 36"/>
          <p:cNvSpPr txBox="1"/>
          <p:nvPr/>
        </p:nvSpPr>
        <p:spPr>
          <a:xfrm>
            <a:off x="9317736" y="4864608"/>
            <a:ext cx="2368296" cy="758952"/>
          </a:xfrm>
          <a:prstGeom prst="rect">
            <a:avLst/>
          </a:prstGeom>
          <a:noFill/>
          <a:effectLst/>
        </p:spPr>
        <p:txBody>
          <a:bodyPr wrap="square" anchor="t" lIns="0" rIns="0" tIns="0" bIns="0">
            <a:spAutoFit/>
          </a:bodyPr>
          <a:lstStyle/>
          <a:p>
            <a:pPr algn="l"/>
            <a:r>
              <a:rPr sz="1080" b="0" i="0">
                <a:solidFill>
                  <a:srgbClr val="16213E"/>
                </a:solidFill>
                <a:latin typeface="Liberation Sans"/>
              </a:rPr>
              <a:t>154,587 rows vs 154,647 canonical; final shortlist missing</a:t>
            </a:r>
          </a:p>
        </p:txBody>
      </p:sp>
      <p:sp>
        <p:nvSpPr>
          <p:cNvPr id="38" name="TextBox 37"/>
          <p:cNvSpPr txBox="1"/>
          <p:nvPr/>
        </p:nvSpPr>
        <p:spPr>
          <a:xfrm>
            <a:off x="594360" y="6519672"/>
            <a:ext cx="10058400" cy="201168"/>
          </a:xfrm>
          <a:prstGeom prst="rect">
            <a:avLst/>
          </a:prstGeom>
          <a:noFill/>
          <a:effectLst/>
        </p:spPr>
        <p:txBody>
          <a:bodyPr wrap="square" anchor="t" lIns="0" rIns="0" tIns="0" bIns="0">
            <a:spAutoFit/>
          </a:bodyPr>
          <a:lstStyle/>
          <a:p>
            <a:pPr algn="l"/>
            <a:r>
              <a:rPr sz="850" b="0" i="0">
                <a:solidFill>
                  <a:srgbClr val="8D99AE"/>
                </a:solidFill>
                <a:latin typeface="Liberation Sans"/>
              </a:rPr>
              <a:t>MDM2 pipeline review  ·  645 training compounds / 154,587 screening compounds  ·  data: 2026-10-26</a:t>
            </a:r>
          </a:p>
        </p:txBody>
      </p:sp>
      <p:sp>
        <p:nvSpPr>
          <p:cNvPr id="39" name="TextBox 38"/>
          <p:cNvSpPr txBox="1"/>
          <p:nvPr/>
        </p:nvSpPr>
        <p:spPr>
          <a:xfrm>
            <a:off x="11155680" y="6519672"/>
            <a:ext cx="457200" cy="201168"/>
          </a:xfrm>
          <a:prstGeom prst="rect">
            <a:avLst/>
          </a:prstGeom>
          <a:noFill/>
          <a:effectLst/>
        </p:spPr>
        <p:txBody>
          <a:bodyPr wrap="square" anchor="t" lIns="0" rIns="0" tIns="0" bIns="0">
            <a:spAutoFit/>
          </a:bodyPr>
          <a:lstStyle/>
          <a:p>
            <a:pPr algn="r"/>
            <a:r>
              <a:rPr sz="850" b="0" i="0">
                <a:solidFill>
                  <a:srgbClr val="8D99AE"/>
                </a:solidFill>
                <a:latin typeface="Liberation Sans"/>
              </a:rPr>
              <a:t>7/10</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3" cy="0"/>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256032"/>
          </a:xfrm>
          <a:prstGeom prst="rect">
            <a:avLst/>
          </a:prstGeom>
          <a:noFill/>
          <a:effectLst/>
        </p:spPr>
        <p:txBody>
          <a:bodyPr wrap="square" anchor="t" lIns="0" rIns="0" tIns="0" bIns="0">
            <a:spAutoFit/>
          </a:bodyPr>
          <a:lstStyle/>
          <a:p>
            <a:pPr algn="l"/>
            <a:r>
              <a:rPr sz="1100" b="1" i="0">
                <a:solidFill>
                  <a:srgbClr val="D62828"/>
                </a:solidFill>
                <a:latin typeface="Liberation Sans"/>
              </a:rPr>
              <a:t>THE PROPER WAY</a:t>
            </a:r>
          </a:p>
        </p:txBody>
      </p:sp>
      <p:sp>
        <p:nvSpPr>
          <p:cNvPr id="4" name="TextBox 3"/>
          <p:cNvSpPr txBox="1"/>
          <p:nvPr/>
        </p:nvSpPr>
        <p:spPr>
          <a:xfrm>
            <a:off x="594360" y="502920"/>
            <a:ext cx="10972800" cy="658368"/>
          </a:xfrm>
          <a:prstGeom prst="rect">
            <a:avLst/>
          </a:prstGeom>
          <a:noFill/>
          <a:effectLst/>
        </p:spPr>
        <p:txBody>
          <a:bodyPr wrap="square" anchor="t" lIns="0" rIns="0" tIns="0" bIns="0">
            <a:spAutoFit/>
          </a:bodyPr>
          <a:lstStyle/>
          <a:p>
            <a:pPr algn="l"/>
            <a:r>
              <a:rPr sz="2900" b="1" i="0">
                <a:solidFill>
                  <a:srgbClr val="0B1F3A"/>
                </a:solidFill>
                <a:latin typeface="Liberation Sans"/>
              </a:rPr>
              <a:t>Train for the chemistry you will actually screen</a:t>
            </a:r>
          </a:p>
        </p:txBody>
      </p:sp>
      <p:sp>
        <p:nvSpPr>
          <p:cNvPr id="5" name="TextBox 4"/>
          <p:cNvSpPr txBox="1"/>
          <p:nvPr/>
        </p:nvSpPr>
        <p:spPr>
          <a:xfrm>
            <a:off x="612648" y="1170432"/>
            <a:ext cx="10789920" cy="384048"/>
          </a:xfrm>
          <a:prstGeom prst="rect">
            <a:avLst/>
          </a:prstGeom>
          <a:noFill/>
          <a:effectLst/>
        </p:spPr>
        <p:txBody>
          <a:bodyPr wrap="square" anchor="t" lIns="0" rIns="0" tIns="0" bIns="0">
            <a:spAutoFit/>
          </a:bodyPr>
          <a:lstStyle/>
          <a:p>
            <a:pPr algn="l"/>
            <a:r>
              <a:rPr sz="1450" b="0" i="0">
                <a:solidFill>
                  <a:srgbClr val="8D99AE"/>
                </a:solidFill>
                <a:latin typeface="Liberation Sans"/>
              </a:rPr>
              <a:t>A protocol that matches the deployment question, not a random benchmark.</a:t>
            </a:r>
          </a:p>
        </p:txBody>
      </p:sp>
      <p:sp>
        <p:nvSpPr>
          <p:cNvPr id="6" name="Rounded Rectangle 5"/>
          <p:cNvSpPr/>
          <p:nvPr/>
        </p:nvSpPr>
        <p:spPr>
          <a:xfrm>
            <a:off x="594360" y="1691640"/>
            <a:ext cx="2651760" cy="1572768"/>
          </a:xfrm>
          <a:prstGeom prst="roundRect">
            <a:avLst/>
          </a:prstGeom>
          <a:solidFill>
            <a:srgbClr val="FFFFFF"/>
          </a:solidFill>
          <a:ln w="1397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801368"/>
            <a:ext cx="457200" cy="365760"/>
          </a:xfrm>
          <a:prstGeom prst="rect">
            <a:avLst/>
          </a:prstGeom>
          <a:noFill/>
          <a:effectLst/>
        </p:spPr>
        <p:txBody>
          <a:bodyPr wrap="square" anchor="t" lIns="0" rIns="0" tIns="0" bIns="0">
            <a:spAutoFit/>
          </a:bodyPr>
          <a:lstStyle/>
          <a:p>
            <a:pPr algn="l"/>
            <a:r>
              <a:rPr sz="2000" b="1" i="0">
                <a:solidFill>
                  <a:srgbClr val="2A9D8F"/>
                </a:solidFill>
                <a:latin typeface="Liberation Sans"/>
              </a:rPr>
              <a:t>1</a:t>
            </a:r>
          </a:p>
        </p:txBody>
      </p:sp>
      <p:sp>
        <p:nvSpPr>
          <p:cNvPr id="8" name="TextBox 7"/>
          <p:cNvSpPr txBox="1"/>
          <p:nvPr/>
        </p:nvSpPr>
        <p:spPr>
          <a:xfrm>
            <a:off x="1097280" y="1828800"/>
            <a:ext cx="2057400" cy="320040"/>
          </a:xfrm>
          <a:prstGeom prst="rect">
            <a:avLst/>
          </a:prstGeom>
          <a:noFill/>
          <a:effectLst/>
        </p:spPr>
        <p:txBody>
          <a:bodyPr wrap="square" anchor="t" lIns="0" rIns="0" tIns="0" bIns="0">
            <a:spAutoFit/>
          </a:bodyPr>
          <a:lstStyle/>
          <a:p>
            <a:pPr algn="l"/>
            <a:r>
              <a:rPr sz="1400" b="1" i="0">
                <a:solidFill>
                  <a:srgbClr val="0B1F3A"/>
                </a:solidFill>
                <a:latin typeface="Liberation Sans"/>
              </a:rPr>
              <a:t>Define the domain</a:t>
            </a:r>
          </a:p>
        </p:txBody>
      </p:sp>
      <p:sp>
        <p:nvSpPr>
          <p:cNvPr id="9" name="TextBox 8"/>
          <p:cNvSpPr txBox="1"/>
          <p:nvPr/>
        </p:nvSpPr>
        <p:spPr>
          <a:xfrm>
            <a:off x="731520" y="2258568"/>
            <a:ext cx="2377440" cy="914400"/>
          </a:xfrm>
          <a:prstGeom prst="rect">
            <a:avLst/>
          </a:prstGeom>
          <a:noFill/>
          <a:effectLst/>
        </p:spPr>
        <p:txBody>
          <a:bodyPr wrap="square" anchor="t" lIns="0" rIns="0" tIns="0" bIns="0">
            <a:spAutoFit/>
          </a:bodyPr>
          <a:lstStyle/>
          <a:p>
            <a:pPr algn="l"/>
            <a:r>
              <a:rPr sz="1050" b="0" i="0">
                <a:solidFill>
                  <a:srgbClr val="16213E"/>
                </a:solidFill>
                <a:latin typeface="Liberation Sans"/>
              </a:rPr>
              <a:t>Is the goal analog optimization or diverse-library discovery? They need different data and metrics.</a:t>
            </a:r>
          </a:p>
        </p:txBody>
      </p:sp>
      <p:sp>
        <p:nvSpPr>
          <p:cNvPr id="10" name="Rounded Rectangle 9"/>
          <p:cNvSpPr/>
          <p:nvPr/>
        </p:nvSpPr>
        <p:spPr>
          <a:xfrm>
            <a:off x="3447288" y="1691640"/>
            <a:ext cx="2651760" cy="1572768"/>
          </a:xfrm>
          <a:prstGeom prst="roundRect">
            <a:avLst/>
          </a:prstGeom>
          <a:solidFill>
            <a:srgbClr val="FFFFFF"/>
          </a:solidFill>
          <a:ln w="1397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84448" y="1801368"/>
            <a:ext cx="457200" cy="365760"/>
          </a:xfrm>
          <a:prstGeom prst="rect">
            <a:avLst/>
          </a:prstGeom>
          <a:noFill/>
          <a:effectLst/>
        </p:spPr>
        <p:txBody>
          <a:bodyPr wrap="square" anchor="t" lIns="0" rIns="0" tIns="0" bIns="0">
            <a:spAutoFit/>
          </a:bodyPr>
          <a:lstStyle/>
          <a:p>
            <a:pPr algn="l"/>
            <a:r>
              <a:rPr sz="2000" b="1" i="0">
                <a:solidFill>
                  <a:srgbClr val="2A9D8F"/>
                </a:solidFill>
                <a:latin typeface="Liberation Sans"/>
              </a:rPr>
              <a:t>2</a:t>
            </a:r>
          </a:p>
        </p:txBody>
      </p:sp>
      <p:sp>
        <p:nvSpPr>
          <p:cNvPr id="12" name="TextBox 11"/>
          <p:cNvSpPr txBox="1"/>
          <p:nvPr/>
        </p:nvSpPr>
        <p:spPr>
          <a:xfrm>
            <a:off x="3950208" y="1828800"/>
            <a:ext cx="2057400" cy="320040"/>
          </a:xfrm>
          <a:prstGeom prst="rect">
            <a:avLst/>
          </a:prstGeom>
          <a:noFill/>
          <a:effectLst/>
        </p:spPr>
        <p:txBody>
          <a:bodyPr wrap="square" anchor="t" lIns="0" rIns="0" tIns="0" bIns="0">
            <a:spAutoFit/>
          </a:bodyPr>
          <a:lstStyle/>
          <a:p>
            <a:pPr algn="l"/>
            <a:r>
              <a:rPr sz="1400" b="1" i="0">
                <a:solidFill>
                  <a:srgbClr val="0B1F3A"/>
                </a:solidFill>
                <a:latin typeface="Liberation Sans"/>
              </a:rPr>
              <a:t>Split by scaffold</a:t>
            </a:r>
          </a:p>
        </p:txBody>
      </p:sp>
      <p:sp>
        <p:nvSpPr>
          <p:cNvPr id="13" name="TextBox 12"/>
          <p:cNvSpPr txBox="1"/>
          <p:nvPr/>
        </p:nvSpPr>
        <p:spPr>
          <a:xfrm>
            <a:off x="3584448" y="2258568"/>
            <a:ext cx="2377440" cy="914400"/>
          </a:xfrm>
          <a:prstGeom prst="rect">
            <a:avLst/>
          </a:prstGeom>
          <a:noFill/>
          <a:effectLst/>
        </p:spPr>
        <p:txBody>
          <a:bodyPr wrap="square" anchor="t" lIns="0" rIns="0" tIns="0" bIns="0">
            <a:spAutoFit/>
          </a:bodyPr>
          <a:lstStyle/>
          <a:p>
            <a:pPr algn="l"/>
            <a:r>
              <a:rPr sz="1050" b="0" i="0">
                <a:solidFill>
                  <a:srgbClr val="16213E"/>
                </a:solidFill>
                <a:latin typeface="Liberation Sans"/>
              </a:rPr>
              <a:t>GroupShuffleSplit / GroupKFold by Murcko scaffold. Never let analogs leak into validation.</a:t>
            </a:r>
          </a:p>
        </p:txBody>
      </p:sp>
      <p:sp>
        <p:nvSpPr>
          <p:cNvPr id="14" name="Rounded Rectangle 13"/>
          <p:cNvSpPr/>
          <p:nvPr/>
        </p:nvSpPr>
        <p:spPr>
          <a:xfrm>
            <a:off x="6300216" y="1691640"/>
            <a:ext cx="2651760" cy="1572768"/>
          </a:xfrm>
          <a:prstGeom prst="roundRect">
            <a:avLst/>
          </a:prstGeom>
          <a:solidFill>
            <a:srgbClr val="FFFFFF"/>
          </a:solidFill>
          <a:ln w="1397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37376" y="1801368"/>
            <a:ext cx="457200" cy="365760"/>
          </a:xfrm>
          <a:prstGeom prst="rect">
            <a:avLst/>
          </a:prstGeom>
          <a:noFill/>
          <a:effectLst/>
        </p:spPr>
        <p:txBody>
          <a:bodyPr wrap="square" anchor="t" lIns="0" rIns="0" tIns="0" bIns="0">
            <a:spAutoFit/>
          </a:bodyPr>
          <a:lstStyle/>
          <a:p>
            <a:pPr algn="l"/>
            <a:r>
              <a:rPr sz="2000" b="1" i="0">
                <a:solidFill>
                  <a:srgbClr val="2A9D8F"/>
                </a:solidFill>
                <a:latin typeface="Liberation Sans"/>
              </a:rPr>
              <a:t>3</a:t>
            </a:r>
          </a:p>
        </p:txBody>
      </p:sp>
      <p:sp>
        <p:nvSpPr>
          <p:cNvPr id="16" name="TextBox 15"/>
          <p:cNvSpPr txBox="1"/>
          <p:nvPr/>
        </p:nvSpPr>
        <p:spPr>
          <a:xfrm>
            <a:off x="6803136" y="1828800"/>
            <a:ext cx="2057400" cy="320040"/>
          </a:xfrm>
          <a:prstGeom prst="rect">
            <a:avLst/>
          </a:prstGeom>
          <a:noFill/>
          <a:effectLst/>
        </p:spPr>
        <p:txBody>
          <a:bodyPr wrap="square" anchor="t" lIns="0" rIns="0" tIns="0" bIns="0">
            <a:spAutoFit/>
          </a:bodyPr>
          <a:lstStyle/>
          <a:p>
            <a:pPr algn="l"/>
            <a:r>
              <a:rPr sz="1400" b="1" i="0">
                <a:solidFill>
                  <a:srgbClr val="0B1F3A"/>
                </a:solidFill>
                <a:latin typeface="Liberation Sans"/>
              </a:rPr>
              <a:t>Nested CV</a:t>
            </a:r>
          </a:p>
        </p:txBody>
      </p:sp>
      <p:sp>
        <p:nvSpPr>
          <p:cNvPr id="17" name="TextBox 16"/>
          <p:cNvSpPr txBox="1"/>
          <p:nvPr/>
        </p:nvSpPr>
        <p:spPr>
          <a:xfrm>
            <a:off x="6437376" y="2258568"/>
            <a:ext cx="2377440" cy="914400"/>
          </a:xfrm>
          <a:prstGeom prst="rect">
            <a:avLst/>
          </a:prstGeom>
          <a:noFill/>
          <a:effectLst/>
        </p:spPr>
        <p:txBody>
          <a:bodyPr wrap="square" anchor="t" lIns="0" rIns="0" tIns="0" bIns="0">
            <a:spAutoFit/>
          </a:bodyPr>
          <a:lstStyle/>
          <a:p>
            <a:pPr algn="l"/>
            <a:r>
              <a:rPr sz="1050" b="0" i="0">
                <a:solidFill>
                  <a:srgbClr val="16213E"/>
                </a:solidFill>
                <a:latin typeface="Liberation Sans"/>
              </a:rPr>
              <a:t>Select and calibrate inside the training folds. Keep the test set frozen.</a:t>
            </a:r>
          </a:p>
        </p:txBody>
      </p:sp>
      <p:sp>
        <p:nvSpPr>
          <p:cNvPr id="18" name="Rounded Rectangle 17"/>
          <p:cNvSpPr/>
          <p:nvPr/>
        </p:nvSpPr>
        <p:spPr>
          <a:xfrm>
            <a:off x="9153144" y="1691640"/>
            <a:ext cx="2651760" cy="1572768"/>
          </a:xfrm>
          <a:prstGeom prst="roundRect">
            <a:avLst/>
          </a:prstGeom>
          <a:solidFill>
            <a:srgbClr val="FFFFFF"/>
          </a:solidFill>
          <a:ln w="1397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90304" y="1801368"/>
            <a:ext cx="457200" cy="365760"/>
          </a:xfrm>
          <a:prstGeom prst="rect">
            <a:avLst/>
          </a:prstGeom>
          <a:noFill/>
          <a:effectLst/>
        </p:spPr>
        <p:txBody>
          <a:bodyPr wrap="square" anchor="t" lIns="0" rIns="0" tIns="0" bIns="0">
            <a:spAutoFit/>
          </a:bodyPr>
          <a:lstStyle/>
          <a:p>
            <a:pPr algn="l"/>
            <a:r>
              <a:rPr sz="2000" b="1" i="0">
                <a:solidFill>
                  <a:srgbClr val="2A9D8F"/>
                </a:solidFill>
                <a:latin typeface="Liberation Sans"/>
              </a:rPr>
              <a:t>4</a:t>
            </a:r>
          </a:p>
        </p:txBody>
      </p:sp>
      <p:sp>
        <p:nvSpPr>
          <p:cNvPr id="20" name="TextBox 19"/>
          <p:cNvSpPr txBox="1"/>
          <p:nvPr/>
        </p:nvSpPr>
        <p:spPr>
          <a:xfrm>
            <a:off x="9656064" y="1828800"/>
            <a:ext cx="2057400" cy="320040"/>
          </a:xfrm>
          <a:prstGeom prst="rect">
            <a:avLst/>
          </a:prstGeom>
          <a:noFill/>
          <a:effectLst/>
        </p:spPr>
        <p:txBody>
          <a:bodyPr wrap="square" anchor="t" lIns="0" rIns="0" tIns="0" bIns="0">
            <a:spAutoFit/>
          </a:bodyPr>
          <a:lstStyle/>
          <a:p>
            <a:pPr algn="l"/>
            <a:r>
              <a:rPr sz="1400" b="1" i="0">
                <a:solidFill>
                  <a:srgbClr val="0B1F3A"/>
                </a:solidFill>
                <a:latin typeface="Liberation Sans"/>
              </a:rPr>
              <a:t>Freeze test</a:t>
            </a:r>
          </a:p>
        </p:txBody>
      </p:sp>
      <p:sp>
        <p:nvSpPr>
          <p:cNvPr id="21" name="TextBox 20"/>
          <p:cNvSpPr txBox="1"/>
          <p:nvPr/>
        </p:nvSpPr>
        <p:spPr>
          <a:xfrm>
            <a:off x="9290304" y="2258568"/>
            <a:ext cx="2377440" cy="914400"/>
          </a:xfrm>
          <a:prstGeom prst="rect">
            <a:avLst/>
          </a:prstGeom>
          <a:noFill/>
          <a:effectLst/>
        </p:spPr>
        <p:txBody>
          <a:bodyPr wrap="square" anchor="t" lIns="0" rIns="0" tIns="0" bIns="0">
            <a:spAutoFit/>
          </a:bodyPr>
          <a:lstStyle/>
          <a:p>
            <a:pPr algn="l"/>
            <a:r>
              <a:rPr sz="1050" b="0" i="0">
                <a:solidFill>
                  <a:srgbClr val="16213E"/>
                </a:solidFill>
                <a:latin typeface="Liberation Sans"/>
              </a:rPr>
              <a:t>Compute test predictions once, at the end. No repeated peeking.</a:t>
            </a:r>
          </a:p>
        </p:txBody>
      </p:sp>
      <p:sp>
        <p:nvSpPr>
          <p:cNvPr id="22" name="Rounded Rectangle 21"/>
          <p:cNvSpPr/>
          <p:nvPr/>
        </p:nvSpPr>
        <p:spPr>
          <a:xfrm>
            <a:off x="594360" y="3566160"/>
            <a:ext cx="2651760" cy="1572768"/>
          </a:xfrm>
          <a:prstGeom prst="roundRect">
            <a:avLst/>
          </a:prstGeom>
          <a:solidFill>
            <a:srgbClr val="FFFFFF"/>
          </a:solidFill>
          <a:ln w="1397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675887"/>
            <a:ext cx="457200" cy="365760"/>
          </a:xfrm>
          <a:prstGeom prst="rect">
            <a:avLst/>
          </a:prstGeom>
          <a:noFill/>
          <a:effectLst/>
        </p:spPr>
        <p:txBody>
          <a:bodyPr wrap="square" anchor="t" lIns="0" rIns="0" tIns="0" bIns="0">
            <a:spAutoFit/>
          </a:bodyPr>
          <a:lstStyle/>
          <a:p>
            <a:pPr algn="l"/>
            <a:r>
              <a:rPr sz="2000" b="1" i="0">
                <a:solidFill>
                  <a:srgbClr val="2A9D8F"/>
                </a:solidFill>
                <a:latin typeface="Liberation Sans"/>
              </a:rPr>
              <a:t>5</a:t>
            </a:r>
          </a:p>
        </p:txBody>
      </p:sp>
      <p:sp>
        <p:nvSpPr>
          <p:cNvPr id="24" name="TextBox 23"/>
          <p:cNvSpPr txBox="1"/>
          <p:nvPr/>
        </p:nvSpPr>
        <p:spPr>
          <a:xfrm>
            <a:off x="1097280" y="3703320"/>
            <a:ext cx="2057400" cy="320040"/>
          </a:xfrm>
          <a:prstGeom prst="rect">
            <a:avLst/>
          </a:prstGeom>
          <a:noFill/>
          <a:effectLst/>
        </p:spPr>
        <p:txBody>
          <a:bodyPr wrap="square" anchor="t" lIns="0" rIns="0" tIns="0" bIns="0">
            <a:spAutoFit/>
          </a:bodyPr>
          <a:lstStyle/>
          <a:p>
            <a:pPr algn="l"/>
            <a:r>
              <a:rPr sz="1400" b="1" i="0">
                <a:solidFill>
                  <a:srgbClr val="0B1F3A"/>
                </a:solidFill>
                <a:latin typeface="Liberation Sans"/>
              </a:rPr>
              <a:t>Train-only evidence</a:t>
            </a:r>
          </a:p>
        </p:txBody>
      </p:sp>
      <p:sp>
        <p:nvSpPr>
          <p:cNvPr id="25" name="TextBox 24"/>
          <p:cNvSpPr txBox="1"/>
          <p:nvPr/>
        </p:nvSpPr>
        <p:spPr>
          <a:xfrm>
            <a:off x="731520" y="4133087"/>
            <a:ext cx="2377440" cy="914400"/>
          </a:xfrm>
          <a:prstGeom prst="rect">
            <a:avLst/>
          </a:prstGeom>
          <a:noFill/>
          <a:effectLst/>
        </p:spPr>
        <p:txBody>
          <a:bodyPr wrap="square" anchor="t" lIns="0" rIns="0" tIns="0" bIns="0">
            <a:spAutoFit/>
          </a:bodyPr>
          <a:lstStyle/>
          <a:p>
            <a:pPr algn="l"/>
            <a:r>
              <a:rPr sz="1050" b="0" i="0">
                <a:solidFill>
                  <a:srgbClr val="16213E"/>
                </a:solidFill>
                <a:latin typeface="Liberation Sans"/>
              </a:rPr>
              <a:t>Active support and AD reference must use training data for held-out evaluation.</a:t>
            </a:r>
          </a:p>
        </p:txBody>
      </p:sp>
      <p:sp>
        <p:nvSpPr>
          <p:cNvPr id="26" name="Rounded Rectangle 25"/>
          <p:cNvSpPr/>
          <p:nvPr/>
        </p:nvSpPr>
        <p:spPr>
          <a:xfrm>
            <a:off x="3447288" y="3566160"/>
            <a:ext cx="2651760" cy="1572768"/>
          </a:xfrm>
          <a:prstGeom prst="roundRect">
            <a:avLst/>
          </a:prstGeom>
          <a:solidFill>
            <a:srgbClr val="FFFFFF"/>
          </a:solidFill>
          <a:ln w="1397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84448" y="3675887"/>
            <a:ext cx="457200" cy="365760"/>
          </a:xfrm>
          <a:prstGeom prst="rect">
            <a:avLst/>
          </a:prstGeom>
          <a:noFill/>
          <a:effectLst/>
        </p:spPr>
        <p:txBody>
          <a:bodyPr wrap="square" anchor="t" lIns="0" rIns="0" tIns="0" bIns="0">
            <a:spAutoFit/>
          </a:bodyPr>
          <a:lstStyle/>
          <a:p>
            <a:pPr algn="l"/>
            <a:r>
              <a:rPr sz="2000" b="1" i="0">
                <a:solidFill>
                  <a:srgbClr val="2A9D8F"/>
                </a:solidFill>
                <a:latin typeface="Liberation Sans"/>
              </a:rPr>
              <a:t>6</a:t>
            </a:r>
          </a:p>
        </p:txBody>
      </p:sp>
      <p:sp>
        <p:nvSpPr>
          <p:cNvPr id="28" name="TextBox 27"/>
          <p:cNvSpPr txBox="1"/>
          <p:nvPr/>
        </p:nvSpPr>
        <p:spPr>
          <a:xfrm>
            <a:off x="3950208" y="3703320"/>
            <a:ext cx="2057400" cy="320040"/>
          </a:xfrm>
          <a:prstGeom prst="rect">
            <a:avLst/>
          </a:prstGeom>
          <a:noFill/>
          <a:effectLst/>
        </p:spPr>
        <p:txBody>
          <a:bodyPr wrap="square" anchor="t" lIns="0" rIns="0" tIns="0" bIns="0">
            <a:spAutoFit/>
          </a:bodyPr>
          <a:lstStyle/>
          <a:p>
            <a:pPr algn="l"/>
            <a:r>
              <a:rPr sz="1400" b="1" i="0">
                <a:solidFill>
                  <a:srgbClr val="0B1F3A"/>
                </a:solidFill>
                <a:latin typeface="Liberation Sans"/>
              </a:rPr>
              <a:t>Report uncertainty</a:t>
            </a:r>
          </a:p>
        </p:txBody>
      </p:sp>
      <p:sp>
        <p:nvSpPr>
          <p:cNvPr id="29" name="TextBox 28"/>
          <p:cNvSpPr txBox="1"/>
          <p:nvPr/>
        </p:nvSpPr>
        <p:spPr>
          <a:xfrm>
            <a:off x="3584448" y="4133087"/>
            <a:ext cx="2377440" cy="914400"/>
          </a:xfrm>
          <a:prstGeom prst="rect">
            <a:avLst/>
          </a:prstGeom>
          <a:noFill/>
          <a:effectLst/>
        </p:spPr>
        <p:txBody>
          <a:bodyPr wrap="square" anchor="t" lIns="0" rIns="0" tIns="0" bIns="0">
            <a:spAutoFit/>
          </a:bodyPr>
          <a:lstStyle/>
          <a:p>
            <a:pPr algn="l"/>
            <a:r>
              <a:rPr sz="1050" b="0" i="0">
                <a:solidFill>
                  <a:srgbClr val="16213E"/>
                </a:solidFill>
                <a:latin typeface="Liberation Sans"/>
              </a:rPr>
              <a:t>AD coverage, calibration slope, prediction intervals, enrichment with bootstrap CIs.</a:t>
            </a:r>
          </a:p>
        </p:txBody>
      </p:sp>
      <p:sp>
        <p:nvSpPr>
          <p:cNvPr id="30" name="Rounded Rectangle 29"/>
          <p:cNvSpPr/>
          <p:nvPr/>
        </p:nvSpPr>
        <p:spPr>
          <a:xfrm>
            <a:off x="6300216" y="3566160"/>
            <a:ext cx="2651760" cy="1572768"/>
          </a:xfrm>
          <a:prstGeom prst="roundRect">
            <a:avLst/>
          </a:prstGeom>
          <a:solidFill>
            <a:srgbClr val="FFFFFF"/>
          </a:solidFill>
          <a:ln w="1397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37376" y="3675887"/>
            <a:ext cx="457200" cy="365760"/>
          </a:xfrm>
          <a:prstGeom prst="rect">
            <a:avLst/>
          </a:prstGeom>
          <a:noFill/>
          <a:effectLst/>
        </p:spPr>
        <p:txBody>
          <a:bodyPr wrap="square" anchor="t" lIns="0" rIns="0" tIns="0" bIns="0">
            <a:spAutoFit/>
          </a:bodyPr>
          <a:lstStyle/>
          <a:p>
            <a:pPr algn="l"/>
            <a:r>
              <a:rPr sz="2000" b="1" i="0">
                <a:solidFill>
                  <a:srgbClr val="2A9D8F"/>
                </a:solidFill>
                <a:latin typeface="Liberation Sans"/>
              </a:rPr>
              <a:t>7</a:t>
            </a:r>
          </a:p>
        </p:txBody>
      </p:sp>
      <p:sp>
        <p:nvSpPr>
          <p:cNvPr id="32" name="TextBox 31"/>
          <p:cNvSpPr txBox="1"/>
          <p:nvPr/>
        </p:nvSpPr>
        <p:spPr>
          <a:xfrm>
            <a:off x="6803136" y="3703320"/>
            <a:ext cx="2057400" cy="320040"/>
          </a:xfrm>
          <a:prstGeom prst="rect">
            <a:avLst/>
          </a:prstGeom>
          <a:noFill/>
          <a:effectLst/>
        </p:spPr>
        <p:txBody>
          <a:bodyPr wrap="square" anchor="t" lIns="0" rIns="0" tIns="0" bIns="0">
            <a:spAutoFit/>
          </a:bodyPr>
          <a:lstStyle/>
          <a:p>
            <a:pPr algn="l"/>
            <a:r>
              <a:rPr sz="1400" b="1" i="0">
                <a:solidFill>
                  <a:srgbClr val="0B1F3A"/>
                </a:solidFill>
                <a:latin typeface="Liberation Sans"/>
              </a:rPr>
              <a:t>Prospective assay</a:t>
            </a:r>
          </a:p>
        </p:txBody>
      </p:sp>
      <p:sp>
        <p:nvSpPr>
          <p:cNvPr id="33" name="TextBox 32"/>
          <p:cNvSpPr txBox="1"/>
          <p:nvPr/>
        </p:nvSpPr>
        <p:spPr>
          <a:xfrm>
            <a:off x="6437376" y="4133087"/>
            <a:ext cx="2377440" cy="914400"/>
          </a:xfrm>
          <a:prstGeom prst="rect">
            <a:avLst/>
          </a:prstGeom>
          <a:noFill/>
          <a:effectLst/>
        </p:spPr>
        <p:txBody>
          <a:bodyPr wrap="square" anchor="t" lIns="0" rIns="0" tIns="0" bIns="0">
            <a:spAutoFit/>
          </a:bodyPr>
          <a:lstStyle/>
          <a:p>
            <a:pPr algn="l"/>
            <a:r>
              <a:rPr sz="1050" b="0" i="0">
                <a:solidFill>
                  <a:srgbClr val="16213E"/>
                </a:solidFill>
                <a:latin typeface="Liberation Sans"/>
              </a:rPr>
              <a:t>A computational shortlist is a hypothesis. Only a wet-lab assay makes it a hit.</a:t>
            </a:r>
          </a:p>
        </p:txBody>
      </p:sp>
      <p:sp>
        <p:nvSpPr>
          <p:cNvPr id="34" name="TextBox 33"/>
          <p:cNvSpPr txBox="1"/>
          <p:nvPr/>
        </p:nvSpPr>
        <p:spPr>
          <a:xfrm>
            <a:off x="594360" y="5440680"/>
            <a:ext cx="10972800" cy="640080"/>
          </a:xfrm>
          <a:prstGeom prst="rect">
            <a:avLst/>
          </a:prstGeom>
          <a:noFill/>
          <a:effectLst/>
        </p:spPr>
        <p:txBody>
          <a:bodyPr wrap="square" anchor="t" lIns="0" rIns="0" tIns="0" bIns="0">
            <a:spAutoFit/>
          </a:bodyPr>
          <a:lstStyle/>
          <a:p>
            <a:pPr algn="ctr"/>
            <a:r>
              <a:rPr sz="1800" b="1" i="0">
                <a:solidFill>
                  <a:srgbClr val="D62828"/>
                </a:solidFill>
                <a:latin typeface="Liberation Sans"/>
              </a:rPr>
              <a:t>If the goal is a diverse library: use a classifier for enrichment + AD, then assay. Do not rank pIC50 outside the domain.</a:t>
            </a:r>
          </a:p>
        </p:txBody>
      </p:sp>
      <p:sp>
        <p:nvSpPr>
          <p:cNvPr id="35" name="TextBox 34"/>
          <p:cNvSpPr txBox="1"/>
          <p:nvPr/>
        </p:nvSpPr>
        <p:spPr>
          <a:xfrm>
            <a:off x="594360" y="6053328"/>
            <a:ext cx="10972800" cy="274320"/>
          </a:xfrm>
          <a:prstGeom prst="rect">
            <a:avLst/>
          </a:prstGeom>
          <a:noFill/>
          <a:effectLst/>
        </p:spPr>
        <p:txBody>
          <a:bodyPr wrap="square" anchor="t" lIns="0" rIns="0" tIns="0" bIns="0">
            <a:spAutoFit/>
          </a:bodyPr>
          <a:lstStyle/>
          <a:p>
            <a:pPr algn="ctr"/>
            <a:r>
              <a:rPr sz="1150" b="0" i="0">
                <a:solidFill>
                  <a:srgbClr val="8D99AE"/>
                </a:solidFill>
                <a:latin typeface="Liberation Sans"/>
              </a:rPr>
              <a:t>A lower, honest score is better than a high score that does not transfer.</a:t>
            </a:r>
          </a:p>
        </p:txBody>
      </p:sp>
      <p:sp>
        <p:nvSpPr>
          <p:cNvPr id="36" name="TextBox 35"/>
          <p:cNvSpPr txBox="1"/>
          <p:nvPr/>
        </p:nvSpPr>
        <p:spPr>
          <a:xfrm>
            <a:off x="594360" y="6519672"/>
            <a:ext cx="10058400" cy="201168"/>
          </a:xfrm>
          <a:prstGeom prst="rect">
            <a:avLst/>
          </a:prstGeom>
          <a:noFill/>
          <a:effectLst/>
        </p:spPr>
        <p:txBody>
          <a:bodyPr wrap="square" anchor="t" lIns="0" rIns="0" tIns="0" bIns="0">
            <a:spAutoFit/>
          </a:bodyPr>
          <a:lstStyle/>
          <a:p>
            <a:pPr algn="l"/>
            <a:r>
              <a:rPr sz="850" b="0" i="0">
                <a:solidFill>
                  <a:srgbClr val="8D99AE"/>
                </a:solidFill>
                <a:latin typeface="Liberation Sans"/>
              </a:rPr>
              <a:t>MDM2 pipeline review  ·  645 training compounds / 154,587 screening compounds  ·  data: 2026-10-26</a:t>
            </a:r>
          </a:p>
        </p:txBody>
      </p:sp>
      <p:sp>
        <p:nvSpPr>
          <p:cNvPr id="37" name="TextBox 36"/>
          <p:cNvSpPr txBox="1"/>
          <p:nvPr/>
        </p:nvSpPr>
        <p:spPr>
          <a:xfrm>
            <a:off x="11155680" y="6519672"/>
            <a:ext cx="457200" cy="201168"/>
          </a:xfrm>
          <a:prstGeom prst="rect">
            <a:avLst/>
          </a:prstGeom>
          <a:noFill/>
          <a:effectLst/>
        </p:spPr>
        <p:txBody>
          <a:bodyPr wrap="square" anchor="t" lIns="0" rIns="0" tIns="0" bIns="0">
            <a:spAutoFit/>
          </a:bodyPr>
          <a:lstStyle/>
          <a:p>
            <a:pPr algn="r"/>
            <a:r>
              <a:rPr sz="850" b="0" i="0">
                <a:solidFill>
                  <a:srgbClr val="8D99AE"/>
                </a:solidFill>
                <a:latin typeface="Liberation Sans"/>
              </a:rPr>
              <a:t>8/10</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3" cy="0"/>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256032"/>
          </a:xfrm>
          <a:prstGeom prst="rect">
            <a:avLst/>
          </a:prstGeom>
          <a:noFill/>
          <a:effectLst/>
        </p:spPr>
        <p:txBody>
          <a:bodyPr wrap="square" anchor="t" lIns="0" rIns="0" tIns="0" bIns="0">
            <a:spAutoFit/>
          </a:bodyPr>
          <a:lstStyle/>
          <a:p>
            <a:pPr algn="l"/>
            <a:r>
              <a:rPr sz="1100" b="1" i="0">
                <a:solidFill>
                  <a:srgbClr val="D62828"/>
                </a:solidFill>
                <a:latin typeface="Liberation Sans"/>
              </a:rPr>
              <a:t>WHAT I WOULD FIX FIRST</a:t>
            </a:r>
          </a:p>
        </p:txBody>
      </p:sp>
      <p:sp>
        <p:nvSpPr>
          <p:cNvPr id="4" name="TextBox 3"/>
          <p:cNvSpPr txBox="1"/>
          <p:nvPr/>
        </p:nvSpPr>
        <p:spPr>
          <a:xfrm>
            <a:off x="594360" y="502920"/>
            <a:ext cx="10972800" cy="658368"/>
          </a:xfrm>
          <a:prstGeom prst="rect">
            <a:avLst/>
          </a:prstGeom>
          <a:noFill/>
          <a:effectLst/>
        </p:spPr>
        <p:txBody>
          <a:bodyPr wrap="square" anchor="t" lIns="0" rIns="0" tIns="0" bIns="0">
            <a:spAutoFit/>
          </a:bodyPr>
          <a:lstStyle/>
          <a:p>
            <a:pPr algn="l"/>
            <a:r>
              <a:rPr sz="2900" b="1" i="0">
                <a:solidFill>
                  <a:srgbClr val="0B1F3A"/>
                </a:solidFill>
                <a:latin typeface="Liberation Sans"/>
              </a:rPr>
              <a:t>P0 is not a new model. P0 is an honest evaluation.</a:t>
            </a:r>
          </a:p>
        </p:txBody>
      </p:sp>
      <p:sp>
        <p:nvSpPr>
          <p:cNvPr id="5" name="Rounded Rectangle 4"/>
          <p:cNvSpPr/>
          <p:nvPr/>
        </p:nvSpPr>
        <p:spPr>
          <a:xfrm>
            <a:off x="594360" y="1691640"/>
            <a:ext cx="5532120" cy="1965960"/>
          </a:xfrm>
          <a:prstGeom prst="roundRect">
            <a:avLst>
              <a:gd name="adj" fmla="val 8000"/>
            </a:avLst>
          </a:prstGeom>
          <a:solidFill>
            <a:srgbClr val="FFFFFF"/>
          </a:solidFill>
          <a:ln w="15240">
            <a:solidFill>
              <a:srgbClr val="D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19656"/>
            <a:ext cx="5202936" cy="320040"/>
          </a:xfrm>
          <a:prstGeom prst="rect">
            <a:avLst/>
          </a:prstGeom>
          <a:noFill/>
          <a:effectLst/>
        </p:spPr>
        <p:txBody>
          <a:bodyPr wrap="square" anchor="t" lIns="0" rIns="0" tIns="0" bIns="0">
            <a:spAutoFit/>
          </a:bodyPr>
          <a:lstStyle/>
          <a:p>
            <a:pPr algn="l"/>
            <a:r>
              <a:rPr sz="1700" b="1" i="0">
                <a:solidFill>
                  <a:srgbClr val="D62828"/>
                </a:solidFill>
                <a:latin typeface="Liberation Sans"/>
              </a:rPr>
              <a:t>P0 — before any more claims</a:t>
            </a:r>
          </a:p>
        </p:txBody>
      </p:sp>
      <p:sp>
        <p:nvSpPr>
          <p:cNvPr id="7" name="TextBox 6"/>
          <p:cNvSpPr txBox="1"/>
          <p:nvPr/>
        </p:nvSpPr>
        <p:spPr>
          <a:xfrm>
            <a:off x="758952" y="2167128"/>
            <a:ext cx="5202936" cy="1399031"/>
          </a:xfrm>
          <a:prstGeom prst="rect">
            <a:avLst/>
          </a:prstGeom>
          <a:noFill/>
          <a:effectLst/>
        </p:spPr>
        <p:txBody>
          <a:bodyPr wrap="square" anchor="t" lIns="0" rIns="0" tIns="0" bIns="0">
            <a:spAutoFit/>
          </a:bodyPr>
          <a:lstStyle/>
          <a:p>
            <a:pPr algn="l"/>
            <a:r>
              <a:rPr sz="1250" b="0" i="0">
                <a:solidFill>
                  <a:srgbClr val="16213E"/>
                </a:solidFill>
                <a:latin typeface="Liberation Sans"/>
              </a:rPr>
              <a:t>• Scaffold-grouped validation
• Train-only active evidence
• Freeze test predictions
• Fix/relabel NNLS result
• Align tier with 0.52
• Rebuild cache with content hashes
• Rerun the final pipeline</a:t>
            </a:r>
          </a:p>
        </p:txBody>
      </p:sp>
      <p:sp>
        <p:nvSpPr>
          <p:cNvPr id="8" name="Rounded Rectangle 7"/>
          <p:cNvSpPr/>
          <p:nvPr/>
        </p:nvSpPr>
        <p:spPr>
          <a:xfrm>
            <a:off x="6355080" y="1691640"/>
            <a:ext cx="5257800" cy="1965960"/>
          </a:xfrm>
          <a:prstGeom prst="roundRect">
            <a:avLst>
              <a:gd name="adj" fmla="val 8000"/>
            </a:avLst>
          </a:prstGeom>
          <a:solidFill>
            <a:srgbClr val="FFFFFF"/>
          </a:solidFill>
          <a:ln w="15240">
            <a:solidFill>
              <a:srgbClr val="E76F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19672" y="1819656"/>
            <a:ext cx="4928616" cy="320040"/>
          </a:xfrm>
          <a:prstGeom prst="rect">
            <a:avLst/>
          </a:prstGeom>
          <a:noFill/>
          <a:effectLst/>
        </p:spPr>
        <p:txBody>
          <a:bodyPr wrap="square" anchor="t" lIns="0" rIns="0" tIns="0" bIns="0">
            <a:spAutoFit/>
          </a:bodyPr>
          <a:lstStyle/>
          <a:p>
            <a:pPr algn="l"/>
            <a:r>
              <a:rPr sz="1700" b="1" i="0">
                <a:solidFill>
                  <a:srgbClr val="E76F51"/>
                </a:solidFill>
                <a:latin typeface="Liberation Sans"/>
              </a:rPr>
              <a:t>P1 — robustness</a:t>
            </a:r>
          </a:p>
        </p:txBody>
      </p:sp>
      <p:sp>
        <p:nvSpPr>
          <p:cNvPr id="10" name="TextBox 9"/>
          <p:cNvSpPr txBox="1"/>
          <p:nvPr/>
        </p:nvSpPr>
        <p:spPr>
          <a:xfrm>
            <a:off x="6519672" y="2167128"/>
            <a:ext cx="4928616" cy="1399031"/>
          </a:xfrm>
          <a:prstGeom prst="rect">
            <a:avLst/>
          </a:prstGeom>
          <a:noFill/>
          <a:effectLst/>
        </p:spPr>
        <p:txBody>
          <a:bodyPr wrap="square" anchor="t" lIns="0" rIns="0" tIns="0" bIns="0">
            <a:spAutoFit/>
          </a:bodyPr>
          <a:lstStyle/>
          <a:p>
            <a:pPr algn="l"/>
            <a:r>
              <a:rPr sz="1250" b="0" i="0">
                <a:solidFill>
                  <a:srgbClr val="16213E"/>
                </a:solidFill>
                <a:latin typeface="Liberation Sans"/>
              </a:rPr>
              <a:t>• Deterministic seeds / generators
• Parent + salt + stereoisomer collapse
• Explicit model availability
• Nested CV for every compared model
• Bootstrap CIs for enrichment
• Per-compound uncertainty</a:t>
            </a:r>
          </a:p>
        </p:txBody>
      </p:sp>
      <p:sp>
        <p:nvSpPr>
          <p:cNvPr id="11" name="Rounded Rectangle 10"/>
          <p:cNvSpPr/>
          <p:nvPr/>
        </p:nvSpPr>
        <p:spPr>
          <a:xfrm>
            <a:off x="594360" y="3886200"/>
            <a:ext cx="5532120" cy="1691640"/>
          </a:xfrm>
          <a:prstGeom prst="roundRect">
            <a:avLst>
              <a:gd name="adj" fmla="val 8000"/>
            </a:avLst>
          </a:prstGeom>
          <a:solidFill>
            <a:srgbClr val="FFFFFF"/>
          </a:solidFill>
          <a:ln w="1524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4014215"/>
            <a:ext cx="5202936" cy="320040"/>
          </a:xfrm>
          <a:prstGeom prst="rect">
            <a:avLst/>
          </a:prstGeom>
          <a:noFill/>
          <a:effectLst/>
        </p:spPr>
        <p:txBody>
          <a:bodyPr wrap="square" anchor="t" lIns="0" rIns="0" tIns="0" bIns="0">
            <a:spAutoFit/>
          </a:bodyPr>
          <a:lstStyle/>
          <a:p>
            <a:pPr algn="l"/>
            <a:r>
              <a:rPr sz="1700" b="1" i="0">
                <a:solidFill>
                  <a:srgbClr val="2A9D8F"/>
                </a:solidFill>
                <a:latin typeface="Liberation Sans"/>
              </a:rPr>
              <a:t>P2 — engineering</a:t>
            </a:r>
          </a:p>
        </p:txBody>
      </p:sp>
      <p:sp>
        <p:nvSpPr>
          <p:cNvPr id="13" name="TextBox 12"/>
          <p:cNvSpPr txBox="1"/>
          <p:nvPr/>
        </p:nvSpPr>
        <p:spPr>
          <a:xfrm>
            <a:off x="758952" y="4361688"/>
            <a:ext cx="5202936" cy="1124712"/>
          </a:xfrm>
          <a:prstGeom prst="rect">
            <a:avLst/>
          </a:prstGeom>
          <a:noFill/>
          <a:effectLst/>
        </p:spPr>
        <p:txBody>
          <a:bodyPr wrap="square" anchor="t" lIns="0" rIns="0" tIns="0" bIns="0">
            <a:spAutoFit/>
          </a:bodyPr>
          <a:lstStyle/>
          <a:p>
            <a:pPr algn="l"/>
            <a:r>
              <a:rPr sz="1250" b="0" i="0">
                <a:solidFill>
                  <a:srgbClr val="16213E"/>
                </a:solidFill>
                <a:latin typeface="Liberation Sans"/>
              </a:rPr>
              <a:t>• Split the 2,423-line script into modules
• Add smoke tests and a pinned environment
• One config source + schema version
• Pin data by SHA256, not ‘main’
• Remove silent exception swallowing</a:t>
            </a:r>
          </a:p>
        </p:txBody>
      </p:sp>
      <p:sp>
        <p:nvSpPr>
          <p:cNvPr id="14" name="Rounded Rectangle 13"/>
          <p:cNvSpPr/>
          <p:nvPr/>
        </p:nvSpPr>
        <p:spPr>
          <a:xfrm>
            <a:off x="6355080" y="3886200"/>
            <a:ext cx="5257800" cy="1691640"/>
          </a:xfrm>
          <a:prstGeom prst="roundRect">
            <a:avLst>
              <a:gd name="adj" fmla="val 8000"/>
            </a:avLst>
          </a:prstGeom>
          <a:solidFill>
            <a:srgbClr val="FFFFFF"/>
          </a:solidFill>
          <a:ln w="15240">
            <a:solidFill>
              <a:srgbClr val="0B1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19672" y="4014215"/>
            <a:ext cx="4928616" cy="320040"/>
          </a:xfrm>
          <a:prstGeom prst="rect">
            <a:avLst/>
          </a:prstGeom>
          <a:noFill/>
          <a:effectLst/>
        </p:spPr>
        <p:txBody>
          <a:bodyPr wrap="square" anchor="t" lIns="0" rIns="0" tIns="0" bIns="0">
            <a:spAutoFit/>
          </a:bodyPr>
          <a:lstStyle/>
          <a:p>
            <a:pPr algn="l"/>
            <a:r>
              <a:rPr sz="1700" b="1" i="0">
                <a:solidFill>
                  <a:srgbClr val="0B1F3A"/>
                </a:solidFill>
                <a:latin typeface="Liberation Sans"/>
              </a:rPr>
              <a:t>Expected result</a:t>
            </a:r>
          </a:p>
        </p:txBody>
      </p:sp>
      <p:sp>
        <p:nvSpPr>
          <p:cNvPr id="16" name="TextBox 15"/>
          <p:cNvSpPr txBox="1"/>
          <p:nvPr/>
        </p:nvSpPr>
        <p:spPr>
          <a:xfrm>
            <a:off x="6519672" y="4361688"/>
            <a:ext cx="4928616" cy="1124712"/>
          </a:xfrm>
          <a:prstGeom prst="rect">
            <a:avLst/>
          </a:prstGeom>
          <a:noFill/>
          <a:effectLst/>
        </p:spPr>
        <p:txBody>
          <a:bodyPr wrap="square" anchor="t" lIns="0" rIns="0" tIns="0" bIns="0">
            <a:spAutoFit/>
          </a:bodyPr>
          <a:lstStyle/>
          <a:p>
            <a:pPr algn="l"/>
            <a:r>
              <a:rPr sz="1250" b="0" i="0">
                <a:solidFill>
                  <a:srgbClr val="16213E"/>
                </a:solidFill>
                <a:latin typeface="Liberation Sans"/>
              </a:rPr>
              <a:t>Lower validation/test numbers.
A smaller — possibly empty — shortlist.
That is success, not failure: it tells you what the data can support.</a:t>
            </a:r>
          </a:p>
        </p:txBody>
      </p:sp>
      <p:sp>
        <p:nvSpPr>
          <p:cNvPr id="17" name="TextBox 16"/>
          <p:cNvSpPr txBox="1"/>
          <p:nvPr/>
        </p:nvSpPr>
        <p:spPr>
          <a:xfrm>
            <a:off x="594360" y="5806440"/>
            <a:ext cx="10972800" cy="320040"/>
          </a:xfrm>
          <a:prstGeom prst="rect">
            <a:avLst/>
          </a:prstGeom>
          <a:noFill/>
          <a:effectLst/>
        </p:spPr>
        <p:txBody>
          <a:bodyPr wrap="square" anchor="t" lIns="0" rIns="0" tIns="0" bIns="0">
            <a:spAutoFit/>
          </a:bodyPr>
          <a:lstStyle/>
          <a:p>
            <a:pPr algn="ctr"/>
            <a:r>
              <a:rPr sz="1300" b="1" i="0">
                <a:solidFill>
                  <a:srgbClr val="D62828"/>
                </a:solidFill>
                <a:latin typeface="Liberation Sans"/>
              </a:rPr>
              <a:t>Do not start by tuning the model. Start by making the evaluation match the screening question.</a:t>
            </a:r>
          </a:p>
        </p:txBody>
      </p:sp>
      <p:sp>
        <p:nvSpPr>
          <p:cNvPr id="18" name="TextBox 17"/>
          <p:cNvSpPr txBox="1"/>
          <p:nvPr/>
        </p:nvSpPr>
        <p:spPr>
          <a:xfrm>
            <a:off x="594360" y="6519672"/>
            <a:ext cx="10058400" cy="201168"/>
          </a:xfrm>
          <a:prstGeom prst="rect">
            <a:avLst/>
          </a:prstGeom>
          <a:noFill/>
          <a:effectLst/>
        </p:spPr>
        <p:txBody>
          <a:bodyPr wrap="square" anchor="t" lIns="0" rIns="0" tIns="0" bIns="0">
            <a:spAutoFit/>
          </a:bodyPr>
          <a:lstStyle/>
          <a:p>
            <a:pPr algn="l"/>
            <a:r>
              <a:rPr sz="850" b="0" i="0">
                <a:solidFill>
                  <a:srgbClr val="8D99AE"/>
                </a:solidFill>
                <a:latin typeface="Liberation Sans"/>
              </a:rPr>
              <a:t>MDM2 pipeline review  ·  645 training compounds / 154,587 screening compounds  ·  data: 2026-10-26</a:t>
            </a:r>
          </a:p>
        </p:txBody>
      </p:sp>
      <p:sp>
        <p:nvSpPr>
          <p:cNvPr id="19" name="TextBox 18"/>
          <p:cNvSpPr txBox="1"/>
          <p:nvPr/>
        </p:nvSpPr>
        <p:spPr>
          <a:xfrm>
            <a:off x="11155680" y="6519672"/>
            <a:ext cx="457200" cy="201168"/>
          </a:xfrm>
          <a:prstGeom prst="rect">
            <a:avLst/>
          </a:prstGeom>
          <a:noFill/>
          <a:effectLst/>
        </p:spPr>
        <p:txBody>
          <a:bodyPr wrap="square" anchor="t" lIns="0" rIns="0" tIns="0" bIns="0">
            <a:spAutoFit/>
          </a:bodyPr>
          <a:lstStyle/>
          <a:p>
            <a:pPr algn="r"/>
            <a:r>
              <a:rPr sz="850" b="0" i="0">
                <a:solidFill>
                  <a:srgbClr val="8D99AE"/>
                </a:solidFill>
                <a:latin typeface="Liberation Sans"/>
              </a:rPr>
              <a:t>9/10</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777240" y="1143000"/>
            <a:ext cx="10698480" cy="320040"/>
          </a:xfrm>
          <a:prstGeom prst="rect">
            <a:avLst/>
          </a:prstGeom>
          <a:noFill/>
          <a:effectLst/>
        </p:spPr>
        <p:txBody>
          <a:bodyPr wrap="square" anchor="t" lIns="0" rIns="0" tIns="0" bIns="0">
            <a:spAutoFit/>
          </a:bodyPr>
          <a:lstStyle/>
          <a:p>
            <a:pPr algn="l"/>
            <a:r>
              <a:rPr sz="1200" b="1" i="0">
                <a:solidFill>
                  <a:srgbClr val="F4A261"/>
                </a:solidFill>
                <a:latin typeface="Liberation Sans"/>
              </a:rPr>
              <a:t>BOTTOM LINE</a:t>
            </a:r>
          </a:p>
        </p:txBody>
      </p:sp>
      <p:sp>
        <p:nvSpPr>
          <p:cNvPr id="3" name="TextBox 2"/>
          <p:cNvSpPr txBox="1"/>
          <p:nvPr/>
        </p:nvSpPr>
        <p:spPr>
          <a:xfrm>
            <a:off x="777240" y="1645920"/>
            <a:ext cx="10607040" cy="1463040"/>
          </a:xfrm>
          <a:prstGeom prst="rect">
            <a:avLst/>
          </a:prstGeom>
          <a:noFill/>
          <a:effectLst/>
        </p:spPr>
        <p:txBody>
          <a:bodyPr wrap="square" anchor="t" lIns="0" rIns="0" tIns="0" bIns="0">
            <a:spAutoFit/>
          </a:bodyPr>
          <a:lstStyle/>
          <a:p>
            <a:pPr algn="l"/>
            <a:r>
              <a:rPr sz="3300" b="1" i="0">
                <a:solidFill>
                  <a:srgbClr val="FFFFFF"/>
                </a:solidFill>
                <a:latin typeface="Liberation Sans"/>
              </a:rPr>
              <a:t>A model is not a microscope.
It cannot see chemistry it was never trained on.</a:t>
            </a:r>
          </a:p>
        </p:txBody>
      </p:sp>
      <p:sp>
        <p:nvSpPr>
          <p:cNvPr id="4" name="TextBox 3"/>
          <p:cNvSpPr txBox="1"/>
          <p:nvPr/>
        </p:nvSpPr>
        <p:spPr>
          <a:xfrm>
            <a:off x="804672" y="3337560"/>
            <a:ext cx="10241280" cy="777240"/>
          </a:xfrm>
          <a:prstGeom prst="rect">
            <a:avLst/>
          </a:prstGeom>
          <a:noFill/>
          <a:effectLst/>
        </p:spPr>
        <p:txBody>
          <a:bodyPr wrap="square" anchor="t" lIns="0" rIns="0" tIns="0" bIns="0">
            <a:spAutoFit/>
          </a:bodyPr>
          <a:lstStyle/>
          <a:p>
            <a:pPr algn="l"/>
            <a:r>
              <a:rPr sz="1900" b="0" i="0">
                <a:solidFill>
                  <a:srgbClr val="C9D3E0"/>
                </a:solidFill>
                <a:latin typeface="Liberation Sans"/>
              </a:rPr>
              <a:t>Your pipeline is a potentially useful analog-ranking tool, once validation is fixed. It is not yet a discovery engine for a diverse library.</a:t>
            </a:r>
          </a:p>
        </p:txBody>
      </p:sp>
      <p:sp>
        <p:nvSpPr>
          <p:cNvPr id="5" name="TextBox 4"/>
          <p:cNvSpPr txBox="1"/>
          <p:nvPr/>
        </p:nvSpPr>
        <p:spPr>
          <a:xfrm>
            <a:off x="804672" y="4343400"/>
            <a:ext cx="10241280" cy="731520"/>
          </a:xfrm>
          <a:prstGeom prst="rect">
            <a:avLst/>
          </a:prstGeom>
          <a:noFill/>
          <a:effectLst/>
        </p:spPr>
        <p:txBody>
          <a:bodyPr wrap="square" anchor="t" lIns="0" rIns="0" tIns="0" bIns="0">
            <a:spAutoFit/>
          </a:bodyPr>
          <a:lstStyle/>
          <a:p>
            <a:pPr algn="l"/>
            <a:r>
              <a:rPr sz="2600" b="1" i="0">
                <a:solidFill>
                  <a:srgbClr val="F4A261"/>
                </a:solidFill>
                <a:latin typeface="Liberation Sans"/>
              </a:rPr>
              <a:t>The correct answer may be: “No reliable hits in this library.”</a:t>
            </a:r>
          </a:p>
        </p:txBody>
      </p:sp>
      <p:sp>
        <p:nvSpPr>
          <p:cNvPr id="6" name="TextBox 5"/>
          <p:cNvSpPr txBox="1"/>
          <p:nvPr/>
        </p:nvSpPr>
        <p:spPr>
          <a:xfrm>
            <a:off x="804672" y="5349240"/>
            <a:ext cx="10241280" cy="502920"/>
          </a:xfrm>
          <a:prstGeom prst="rect">
            <a:avLst/>
          </a:prstGeom>
          <a:noFill/>
          <a:effectLst/>
        </p:spPr>
        <p:txBody>
          <a:bodyPr wrap="square" anchor="t" lIns="0" rIns="0" tIns="0" bIns="0">
            <a:spAutoFit/>
          </a:bodyPr>
          <a:lstStyle/>
          <a:p>
            <a:pPr algn="l"/>
            <a:r>
              <a:rPr sz="1500" b="0" i="0">
                <a:solidFill>
                  <a:srgbClr val="C9D3E0"/>
                </a:solidFill>
                <a:latin typeface="Liberation Sans"/>
              </a:rPr>
              <a:t>Fix the validation contract first. Then the model has a chance to be believed.</a:t>
            </a:r>
          </a:p>
        </p:txBody>
      </p:sp>
      <p:sp>
        <p:nvSpPr>
          <p:cNvPr id="7" name="TextBox 6"/>
          <p:cNvSpPr txBox="1"/>
          <p:nvPr/>
        </p:nvSpPr>
        <p:spPr>
          <a:xfrm>
            <a:off x="594360" y="6519672"/>
            <a:ext cx="10058400" cy="201168"/>
          </a:xfrm>
          <a:prstGeom prst="rect">
            <a:avLst/>
          </a:prstGeom>
          <a:noFill/>
          <a:effectLst/>
        </p:spPr>
        <p:txBody>
          <a:bodyPr wrap="square" anchor="t" lIns="0" rIns="0" tIns="0" bIns="0">
            <a:spAutoFit/>
          </a:bodyPr>
          <a:lstStyle/>
          <a:p>
            <a:pPr algn="l"/>
            <a:r>
              <a:rPr sz="850" b="0" i="0">
                <a:solidFill>
                  <a:srgbClr val="9FB0C4"/>
                </a:solidFill>
                <a:latin typeface="Liberation Sans"/>
              </a:rPr>
              <a:t>MDM2 pipeline review  ·  645 training compounds / 154,587 screening compounds  ·  data: 2026-10-26</a:t>
            </a:r>
          </a:p>
        </p:txBody>
      </p:sp>
      <p:sp>
        <p:nvSpPr>
          <p:cNvPr id="8" name="TextBox 7"/>
          <p:cNvSpPr txBox="1"/>
          <p:nvPr/>
        </p:nvSpPr>
        <p:spPr>
          <a:xfrm>
            <a:off x="11155680" y="6519672"/>
            <a:ext cx="457200" cy="201168"/>
          </a:xfrm>
          <a:prstGeom prst="rect">
            <a:avLst/>
          </a:prstGeom>
          <a:noFill/>
          <a:effectLst/>
        </p:spPr>
        <p:txBody>
          <a:bodyPr wrap="square" anchor="t" lIns="0" rIns="0" tIns="0" bIns="0">
            <a:spAutoFit/>
          </a:bodyPr>
          <a:lstStyle/>
          <a:p>
            <a:pPr algn="r"/>
            <a:r>
              <a:rPr sz="850" b="0" i="0">
                <a:solidFill>
                  <a:srgbClr val="9FB0C4"/>
                </a:solidFill>
                <a:latin typeface="Liberation Sans"/>
              </a:rPr>
              <a:t>10/10</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